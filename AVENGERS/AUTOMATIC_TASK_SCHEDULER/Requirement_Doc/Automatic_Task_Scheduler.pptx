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notesMasterIdLst>
    <p:notesMasterId r:id="rId18"/>
  </p:notesMasterIdLst>
  <p:sldIdLst>
    <p:sldId id="256" r:id="rId2"/>
    <p:sldId id="270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605" autoAdjust="0"/>
  </p:normalViewPr>
  <p:slideViewPr>
    <p:cSldViewPr snapToGrid="0">
      <p:cViewPr varScale="1">
        <p:scale>
          <a:sx n="58" d="100"/>
          <a:sy n="58" d="100"/>
        </p:scale>
        <p:origin x="98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C6FD3D-4867-4D93-AEB3-FB3FA09D4701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34E6D3-ABA3-4DEB-ABD8-DFDB01670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2869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34E6D3-ABA3-4DEB-ABD8-DFDB01670BB1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97132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9312E-288F-BEEB-65D8-6C87DE623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0A1764-E139-676D-B981-3EEA42F6CE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1FA849-76C6-3624-BF33-5C836E0C00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352F0-E3C1-D207-3853-2FCBED7D1B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34E6D3-ABA3-4DEB-ABD8-DFDB01670BB1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8147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4737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137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310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178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823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811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0164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959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790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3318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5381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864815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369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02717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6179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4596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0387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7/3/2026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48051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3007535-560C-F410-9C67-9BBC104F8C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0212" y="3062689"/>
            <a:ext cx="8791575" cy="1531344"/>
          </a:xfrm>
        </p:spPr>
        <p:txBody>
          <a:bodyPr>
            <a:normAutofit fontScale="90000"/>
          </a:bodyPr>
          <a:lstStyle/>
          <a:p>
            <a:r>
              <a:rPr lang="en-US" b="0" dirty="0"/>
              <a:t>Project Name: Automatic task schedular</a:t>
            </a:r>
            <a:br>
              <a:rPr lang="en-US" b="0" dirty="0"/>
            </a:br>
            <a:br>
              <a:rPr lang="en-US" b="0" dirty="0"/>
            </a:br>
            <a:r>
              <a:rPr lang="en-US" sz="2700" b="0" dirty="0"/>
              <a:t>team - Avengers</a:t>
            </a:r>
            <a:endParaRPr lang="en-IN" sz="2700" b="0" dirty="0"/>
          </a:p>
        </p:txBody>
      </p:sp>
    </p:spTree>
    <p:extLst>
      <p:ext uri="{BB962C8B-B14F-4D97-AF65-F5344CB8AC3E}">
        <p14:creationId xmlns:p14="http://schemas.microsoft.com/office/powerpoint/2010/main" val="3357459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86137-27A1-1042-2713-A3EBCE367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>
            <a:extLst>
              <a:ext uri="{FF2B5EF4-FFF2-40B4-BE49-F238E27FC236}">
                <a16:creationId xmlns:a16="http://schemas.microsoft.com/office/drawing/2014/main" id="{5C7F2D0C-B191-4489-D934-B08BF52FA2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1068636"/>
            <a:ext cx="8791575" cy="5373261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36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Bahnschrift SemiLight" panose="020B0502040204020203" pitchFamily="34" charset="0"/>
              </a:rPr>
              <a:t>Team members</a:t>
            </a:r>
            <a:r>
              <a:rPr lang="en-US" sz="2450" b="1" dirty="0">
                <a:solidFill>
                  <a:schemeClr val="tx2">
                    <a:lumMod val="20000"/>
                    <a:lumOff val="80000"/>
                  </a:schemeClr>
                </a:solidFill>
                <a:latin typeface="Bahnschrift SemiLight" panose="020B0502040204020203" pitchFamily="34" charset="0"/>
              </a:rPr>
              <a:t>:</a:t>
            </a:r>
          </a:p>
          <a:p>
            <a:pPr algn="l"/>
            <a:r>
              <a:rPr lang="en-IN" sz="2450" dirty="0">
                <a:solidFill>
                  <a:schemeClr val="tx2">
                    <a:lumMod val="20000"/>
                    <a:lumOff val="80000"/>
                  </a:schemeClr>
                </a:solidFill>
                <a:latin typeface="Bahnschrift SemiLight" panose="020B0502040204020203" pitchFamily="34" charset="0"/>
              </a:rPr>
              <a:t>      </a:t>
            </a:r>
            <a:endParaRPr lang="en-IN" sz="2800" dirty="0">
              <a:solidFill>
                <a:schemeClr val="tx2">
                  <a:lumMod val="20000"/>
                  <a:lumOff val="80000"/>
                </a:schemeClr>
              </a:solidFill>
              <a:latin typeface="Bahnschrift SemiLight" panose="020B0502040204020203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9EDBFEE-AE2B-A4A5-BD92-C00881E8E7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6987553"/>
              </p:ext>
            </p:extLst>
          </p:nvPr>
        </p:nvGraphicFramePr>
        <p:xfrm>
          <a:off x="2104222" y="1916935"/>
          <a:ext cx="6345715" cy="441374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{1FECB4D8-DB02-4DC6-A0A2-4F2EBAE1DC90}</a:tableStyleId>
              </a:tblPr>
              <a:tblGrid>
                <a:gridCol w="1756336">
                  <a:extLst>
                    <a:ext uri="{9D8B030D-6E8A-4147-A177-3AD203B41FA5}">
                      <a16:colId xmlns:a16="http://schemas.microsoft.com/office/drawing/2014/main" val="3219596109"/>
                    </a:ext>
                  </a:extLst>
                </a:gridCol>
                <a:gridCol w="4589379">
                  <a:extLst>
                    <a:ext uri="{9D8B030D-6E8A-4147-A177-3AD203B41FA5}">
                      <a16:colId xmlns:a16="http://schemas.microsoft.com/office/drawing/2014/main" val="3558019514"/>
                    </a:ext>
                  </a:extLst>
                </a:gridCol>
              </a:tblGrid>
              <a:tr h="840066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Bahnschrift SemiLight" panose="020B0502040204020203" pitchFamily="34" charset="0"/>
                        </a:rPr>
                        <a:t>Name</a:t>
                      </a:r>
                      <a:endParaRPr lang="en-IN" b="1" dirty="0">
                        <a:latin typeface="Bahnschrift SemiLigh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Bahnschrift SemiLight" panose="020B0502040204020203" pitchFamily="34" charset="0"/>
                        </a:rPr>
                        <a:t>Roles</a:t>
                      </a:r>
                      <a:endParaRPr lang="en-IN" b="1" dirty="0">
                        <a:latin typeface="Bahnschrift SemiLigh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186363513"/>
                  </a:ext>
                </a:extLst>
              </a:tr>
              <a:tr h="573379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Bahnschrift SemiLight" panose="020B0502040204020203" pitchFamily="34" charset="0"/>
                        </a:rPr>
                        <a:t>Divya Patil</a:t>
                      </a:r>
                      <a:endParaRPr lang="en-IN" b="1" dirty="0">
                        <a:latin typeface="Bahnschrift SemiLigh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Bahnschrift SemiLight" panose="020B0502040204020203" pitchFamily="34" charset="0"/>
                        </a:rPr>
                        <a:t>Scrum Master , Planner</a:t>
                      </a:r>
                      <a:endParaRPr lang="en-IN" b="1" dirty="0">
                        <a:latin typeface="Bahnschrift SemiLigh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776111397"/>
                  </a:ext>
                </a:extLst>
              </a:tr>
              <a:tr h="573379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Bahnschrift SemiLight" panose="020B0502040204020203" pitchFamily="34" charset="0"/>
                        </a:rPr>
                        <a:t>Priya Bhavsar</a:t>
                      </a:r>
                      <a:endParaRPr lang="en-IN" b="1" dirty="0">
                        <a:latin typeface="Bahnschrift SemiLigh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Bahnschrift SemiLight" panose="020B0502040204020203" pitchFamily="34" charset="0"/>
                        </a:rPr>
                        <a:t>Developer</a:t>
                      </a:r>
                      <a:endParaRPr lang="en-IN" b="1" dirty="0">
                        <a:latin typeface="Bahnschrift SemiLigh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4133442607"/>
                  </a:ext>
                </a:extLst>
              </a:tr>
              <a:tr h="619782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Bahnschrift SemiLight" panose="020B0502040204020203" pitchFamily="34" charset="0"/>
                        </a:rPr>
                        <a:t>Dhanshri Mahajan</a:t>
                      </a:r>
                      <a:endParaRPr lang="en-IN" b="1" dirty="0">
                        <a:latin typeface="Bahnschrift SemiLigh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Bahnschrift SemiLight" panose="020B0502040204020203" pitchFamily="34" charset="0"/>
                        </a:rPr>
                        <a:t>Developer</a:t>
                      </a:r>
                      <a:endParaRPr lang="en-IN" b="1" dirty="0">
                        <a:latin typeface="Bahnschrift SemiLigh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125711571"/>
                  </a:ext>
                </a:extLst>
              </a:tr>
              <a:tr h="619782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Bahnschrift SemiLight" panose="020B0502040204020203" pitchFamily="34" charset="0"/>
                        </a:rPr>
                        <a:t>Kanishka </a:t>
                      </a:r>
                      <a:r>
                        <a:rPr lang="en-US" b="1" dirty="0" err="1">
                          <a:latin typeface="Bahnschrift SemiLight" panose="020B0502040204020203" pitchFamily="34" charset="0"/>
                        </a:rPr>
                        <a:t>Gawali</a:t>
                      </a:r>
                      <a:endParaRPr lang="en-IN" b="1" dirty="0">
                        <a:latin typeface="Bahnschrift SemiLigh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Bahnschrift SemiLight" panose="020B0502040204020203" pitchFamily="34" charset="0"/>
                        </a:rPr>
                        <a:t>Developer</a:t>
                      </a:r>
                      <a:endParaRPr lang="en-IN" b="1" dirty="0">
                        <a:latin typeface="Bahnschrift SemiLigh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639459531"/>
                  </a:ext>
                </a:extLst>
              </a:tr>
              <a:tr h="573379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Bahnschrift SemiLight" panose="020B0502040204020203" pitchFamily="34" charset="0"/>
                        </a:rPr>
                        <a:t>Mansi Bari</a:t>
                      </a:r>
                      <a:endParaRPr lang="en-IN" b="1" dirty="0">
                        <a:latin typeface="Bahnschrift SemiLigh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Bahnschrift SemiLight" panose="020B0502040204020203" pitchFamily="34" charset="0"/>
                        </a:rPr>
                        <a:t>QA</a:t>
                      </a:r>
                      <a:endParaRPr lang="en-IN" b="1" dirty="0">
                        <a:latin typeface="Bahnschrift SemiLigh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93904343"/>
                  </a:ext>
                </a:extLst>
              </a:tr>
              <a:tr h="573379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Bahnschrift SemiLight" panose="020B0502040204020203" pitchFamily="34" charset="0"/>
                        </a:rPr>
                        <a:t>Aarti </a:t>
                      </a:r>
                      <a:r>
                        <a:rPr lang="en-US" b="1" dirty="0" err="1">
                          <a:latin typeface="Bahnschrift SemiLight" panose="020B0502040204020203" pitchFamily="34" charset="0"/>
                        </a:rPr>
                        <a:t>Mirge</a:t>
                      </a:r>
                      <a:endParaRPr lang="en-IN" b="1" dirty="0">
                        <a:latin typeface="Bahnschrift SemiLigh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Bahnschrift SemiLight" panose="020B0502040204020203" pitchFamily="34" charset="0"/>
                        </a:rPr>
                        <a:t>QA</a:t>
                      </a:r>
                      <a:endParaRPr lang="en-IN" b="1" dirty="0">
                        <a:latin typeface="Bahnschrift SemiLigh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artDeco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8635066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0922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2C816-5193-21B3-2B3C-B3EDA2AC2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D5E0DC7-4EEC-E9F2-EDA3-680C58AF93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1230420"/>
          </a:xfrm>
        </p:spPr>
        <p:txBody>
          <a:bodyPr>
            <a:normAutofit/>
          </a:bodyPr>
          <a:lstStyle/>
          <a:p>
            <a:r>
              <a:rPr lang="en-US" sz="4000" b="0" dirty="0"/>
              <a:t>Project objective</a:t>
            </a:r>
            <a:endParaRPr lang="en-IN" sz="4000" b="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881BEA5-A792-D2A8-238B-E6FF0D4506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2691829"/>
            <a:ext cx="8791575" cy="3503488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>
                    <a:lumMod val="20000"/>
                    <a:lumOff val="80000"/>
                  </a:schemeClr>
                </a:solidFill>
                <a:latin typeface="Bahnschrift SemiLight" panose="020B0502040204020203" pitchFamily="34" charset="0"/>
              </a:rPr>
              <a:t>The objective of the Automatic Task Scheduler is to help users </a:t>
            </a:r>
            <a:r>
              <a:rPr lang="en-IN" sz="2400" b="1" dirty="0">
                <a:solidFill>
                  <a:schemeClr val="tx1"/>
                </a:solidFill>
                <a:latin typeface="Bahnschrift SemiLight" panose="020B0502040204020203" pitchFamily="34" charset="0"/>
              </a:rPr>
              <a:t>create, schedule</a:t>
            </a:r>
            <a:r>
              <a:rPr lang="en-IN" sz="2400" dirty="0">
                <a:solidFill>
                  <a:schemeClr val="tx2">
                    <a:lumMod val="20000"/>
                    <a:lumOff val="80000"/>
                  </a:schemeClr>
                </a:solidFill>
                <a:latin typeface="Bahnschrift SemiLight" panose="020B0502040204020203" pitchFamily="34" charset="0"/>
              </a:rPr>
              <a:t>, and </a:t>
            </a:r>
            <a:r>
              <a:rPr lang="en-IN" sz="2400" b="1" dirty="0">
                <a:solidFill>
                  <a:schemeClr val="tx1"/>
                </a:solidFill>
                <a:latin typeface="Bahnschrift SemiLight" panose="020B0502040204020203" pitchFamily="34" charset="0"/>
              </a:rPr>
              <a:t>manage tasks </a:t>
            </a:r>
            <a:r>
              <a:rPr lang="en-IN" sz="2400" dirty="0">
                <a:solidFill>
                  <a:schemeClr val="tx2">
                    <a:lumMod val="20000"/>
                    <a:lumOff val="80000"/>
                  </a:schemeClr>
                </a:solidFill>
                <a:latin typeface="Bahnschrift SemiLight" panose="020B0502040204020203" pitchFamily="34" charset="0"/>
              </a:rPr>
              <a:t>efficiently.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>
                    <a:lumMod val="20000"/>
                    <a:lumOff val="80000"/>
                  </a:schemeClr>
                </a:solidFill>
                <a:latin typeface="Bahnschrift SemiLight" panose="020B0502040204020203" pitchFamily="34" charset="0"/>
              </a:rPr>
              <a:t>The system support </a:t>
            </a:r>
            <a:r>
              <a:rPr lang="en-IN" sz="2400" b="1" dirty="0">
                <a:solidFill>
                  <a:schemeClr val="tx1"/>
                </a:solidFill>
                <a:latin typeface="Bahnschrift SemiLight" panose="020B0502040204020203" pitchFamily="34" charset="0"/>
              </a:rPr>
              <a:t>voice-based interaction</a:t>
            </a:r>
            <a:r>
              <a:rPr lang="en-IN" sz="2400" dirty="0">
                <a:solidFill>
                  <a:schemeClr val="tx2">
                    <a:lumMod val="20000"/>
                    <a:lumOff val="80000"/>
                  </a:schemeClr>
                </a:solidFill>
                <a:latin typeface="Bahnschrift SemiLight" panose="020B0502040204020203" pitchFamily="34" charset="0"/>
              </a:rPr>
              <a:t>, and       automatically executes tasks at predefined times, </a:t>
            </a:r>
            <a:r>
              <a:rPr lang="en-IN" sz="24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Bahnschrift SemiLight" panose="020B0502040204020203" pitchFamily="34" charset="0"/>
              </a:rPr>
              <a:t>sends notifications</a:t>
            </a:r>
            <a:r>
              <a:rPr lang="en-IN" sz="2400" dirty="0">
                <a:solidFill>
                  <a:schemeClr val="tx2">
                    <a:lumMod val="20000"/>
                    <a:lumOff val="80000"/>
                  </a:schemeClr>
                </a:solidFill>
                <a:latin typeface="Bahnschrift SemiLight" panose="020B0502040204020203" pitchFamily="34" charset="0"/>
              </a:rPr>
              <a:t>, and helps users </a:t>
            </a:r>
            <a:r>
              <a:rPr lang="en-IN" sz="24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Bahnschrift SemiLight" panose="020B0502040204020203" pitchFamily="34" charset="0"/>
              </a:rPr>
              <a:t>track task progress</a:t>
            </a:r>
            <a:r>
              <a:rPr lang="en-IN" sz="2400" dirty="0">
                <a:solidFill>
                  <a:schemeClr val="tx2">
                    <a:lumMod val="20000"/>
                    <a:lumOff val="80000"/>
                  </a:schemeClr>
                </a:solidFill>
                <a:latin typeface="Bahnschrift SemiLight" panose="020B0502040204020203" pitchFamily="34" charset="0"/>
              </a:rPr>
              <a:t>, reducing manual effort and improving productivity.</a:t>
            </a:r>
          </a:p>
          <a:p>
            <a:endParaRPr lang="en-IN" sz="24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7002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835B4-E7D2-EE33-5763-D97F08AF3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85715E8-9BA5-7A51-CE1E-52C1F4408E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780836"/>
            <a:ext cx="8791575" cy="698643"/>
          </a:xfrm>
        </p:spPr>
        <p:txBody>
          <a:bodyPr>
            <a:normAutofit/>
          </a:bodyPr>
          <a:lstStyle/>
          <a:p>
            <a:pPr marL="571500" indent="-571500" algn="l">
              <a:buFont typeface="Wingdings" panose="05000000000000000000" pitchFamily="2" charset="2"/>
              <a:buChar char="v"/>
            </a:pPr>
            <a:r>
              <a:rPr lang="en-US" sz="4000" b="0" dirty="0"/>
              <a:t>User requirements</a:t>
            </a:r>
            <a:endParaRPr lang="en-IN" sz="4000" b="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47BB210-882F-7326-FB00-95CE19F995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1736332"/>
            <a:ext cx="8791575" cy="4798031"/>
          </a:xfrm>
        </p:spPr>
        <p:txBody>
          <a:bodyPr>
            <a:normAutofit lnSpcReduction="10000"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US" sz="2400" dirty="0">
                <a:solidFill>
                  <a:schemeClr val="tx2">
                    <a:lumMod val="20000"/>
                    <a:lumOff val="80000"/>
                  </a:schemeClr>
                </a:solidFill>
                <a:latin typeface="Bahnschrift SemiLight" panose="020B0502040204020203" pitchFamily="34" charset="0"/>
              </a:rPr>
              <a:t>User Account Management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400" dirty="0">
                <a:solidFill>
                  <a:schemeClr val="tx2">
                    <a:lumMod val="20000"/>
                    <a:lumOff val="80000"/>
                  </a:schemeClr>
                </a:solidFill>
                <a:latin typeface="Bahnschrift SemiLight" panose="020B0502040204020203" pitchFamily="34" charset="0"/>
              </a:rPr>
              <a:t>Task Management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400" dirty="0">
                <a:solidFill>
                  <a:schemeClr val="tx2">
                    <a:lumMod val="20000"/>
                    <a:lumOff val="80000"/>
                  </a:schemeClr>
                </a:solidFill>
                <a:latin typeface="Bahnschrift SemiLight" panose="020B0502040204020203" pitchFamily="34" charset="0"/>
              </a:rPr>
              <a:t>Task Scheduling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400" dirty="0">
                <a:solidFill>
                  <a:schemeClr val="tx2">
                    <a:lumMod val="20000"/>
                    <a:lumOff val="80000"/>
                  </a:schemeClr>
                </a:solidFill>
                <a:latin typeface="Bahnschrift SemiLight" panose="020B0502040204020203" pitchFamily="34" charset="0"/>
              </a:rPr>
              <a:t>Automatic  Task </a:t>
            </a:r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  <a:latin typeface="Bahnschrift SemiLight" panose="020B0502040204020203" pitchFamily="34" charset="0"/>
              </a:rPr>
              <a:t> E</a:t>
            </a:r>
            <a:r>
              <a:rPr lang="en-US" sz="2400" dirty="0">
                <a:solidFill>
                  <a:schemeClr val="tx2">
                    <a:lumMod val="20000"/>
                    <a:lumOff val="80000"/>
                  </a:schemeClr>
                </a:solidFill>
                <a:latin typeface="Bahnschrift SemiLight" panose="020B0502040204020203" pitchFamily="34" charset="0"/>
              </a:rPr>
              <a:t>xecution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400" dirty="0">
                <a:solidFill>
                  <a:schemeClr val="tx2">
                    <a:lumMod val="20000"/>
                    <a:lumOff val="80000"/>
                  </a:schemeClr>
                </a:solidFill>
                <a:latin typeface="Bahnschrift SemiLight" panose="020B0502040204020203" pitchFamily="34" charset="0"/>
              </a:rPr>
              <a:t>Voice Assistant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400" dirty="0">
                <a:solidFill>
                  <a:schemeClr val="tx2">
                    <a:lumMod val="20000"/>
                    <a:lumOff val="80000"/>
                  </a:schemeClr>
                </a:solidFill>
                <a:latin typeface="Bahnschrift SemiLight" panose="020B0502040204020203" pitchFamily="34" charset="0"/>
              </a:rPr>
              <a:t>Email Notification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400" dirty="0">
                <a:solidFill>
                  <a:schemeClr val="tx2">
                    <a:lumMod val="20000"/>
                    <a:lumOff val="80000"/>
                  </a:schemeClr>
                </a:solidFill>
                <a:latin typeface="Bahnschrift SemiLight" panose="020B0502040204020203" pitchFamily="34" charset="0"/>
              </a:rPr>
              <a:t>Dashboard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400" dirty="0">
                <a:solidFill>
                  <a:schemeClr val="tx2">
                    <a:lumMod val="20000"/>
                    <a:lumOff val="80000"/>
                  </a:schemeClr>
                </a:solidFill>
                <a:latin typeface="Bahnschrift SemiLight" panose="020B0502040204020203" pitchFamily="34" charset="0"/>
              </a:rPr>
              <a:t>Report &amp; History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400" dirty="0">
                <a:solidFill>
                  <a:schemeClr val="tx2">
                    <a:lumMod val="20000"/>
                    <a:lumOff val="80000"/>
                  </a:schemeClr>
                </a:solidFill>
                <a:latin typeface="Bahnschrift SemiLight" panose="020B0502040204020203" pitchFamily="34" charset="0"/>
              </a:rPr>
              <a:t>Cab </a:t>
            </a:r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  <a:latin typeface="Bahnschrift SemiLight" panose="020B0502040204020203" pitchFamily="34" charset="0"/>
              </a:rPr>
              <a:t>R</a:t>
            </a:r>
            <a:r>
              <a:rPr lang="en-US" sz="2400" dirty="0">
                <a:solidFill>
                  <a:schemeClr val="tx2">
                    <a:lumMod val="20000"/>
                    <a:lumOff val="80000"/>
                  </a:schemeClr>
                </a:solidFill>
                <a:latin typeface="Bahnschrift SemiLight" panose="020B0502040204020203" pitchFamily="34" charset="0"/>
              </a:rPr>
              <a:t>eminder </a:t>
            </a:r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  <a:latin typeface="Bahnschrift SemiLight" panose="020B0502040204020203" pitchFamily="34" charset="0"/>
              </a:rPr>
              <a:t>M</a:t>
            </a:r>
            <a:r>
              <a:rPr lang="en-US" sz="2400" dirty="0">
                <a:solidFill>
                  <a:schemeClr val="tx2">
                    <a:lumMod val="20000"/>
                    <a:lumOff val="80000"/>
                  </a:schemeClr>
                </a:solidFill>
                <a:latin typeface="Bahnschrift SemiLight" panose="020B0502040204020203" pitchFamily="34" charset="0"/>
              </a:rPr>
              <a:t>anagement</a:t>
            </a:r>
          </a:p>
          <a:p>
            <a:pPr marL="457200" indent="-457200">
              <a:buFont typeface="+mj-lt"/>
              <a:buAutoNum type="arabicPeriod"/>
            </a:pPr>
            <a:endParaRPr lang="en-IN" sz="24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833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EA55A-BFD9-3A99-82DF-2DA8A886D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49A22B-AFFF-4EFB-37DD-874990A680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9204" y="1122363"/>
            <a:ext cx="9198795" cy="1292064"/>
          </a:xfrm>
        </p:spPr>
        <p:txBody>
          <a:bodyPr>
            <a:normAutofit/>
          </a:bodyPr>
          <a:lstStyle/>
          <a:p>
            <a:pPr algn="l"/>
            <a:r>
              <a:rPr lang="en-US" sz="4000" b="0" dirty="0"/>
              <a:t>1.User account management</a:t>
            </a:r>
            <a:endParaRPr lang="en-IN" sz="4000" b="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0FB78AF-F0BF-6AA6-0201-A9A1703CE5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2907587"/>
            <a:ext cx="8791575" cy="3287730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dirty="0">
                <a:effectLst/>
                <a:latin typeface="Bahnschrift SemiLight" panose="020B0502040204020203" pitchFamily="34" charset="0"/>
              </a:rPr>
              <a:t>PB-001 - User Registration (30 min)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dirty="0">
                <a:effectLst/>
                <a:latin typeface="Bahnschrift SemiLight" panose="020B0502040204020203" pitchFamily="34" charset="0"/>
              </a:rPr>
              <a:t>PB-002 - User Login (30 min)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dirty="0">
                <a:effectLst/>
                <a:latin typeface="Bahnschrift SemiLight" panose="020B0502040204020203" pitchFamily="34" charset="0"/>
              </a:rPr>
              <a:t>PB-003 – User Logout (30 min)</a:t>
            </a:r>
          </a:p>
          <a:p>
            <a:pPr algn="l"/>
            <a:r>
              <a:rPr lang="en-IN" sz="240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Bahnschrift SemiLight" panose="020B0502040204020203" pitchFamily="34" charset="0"/>
              </a:rPr>
              <a:t>     </a:t>
            </a:r>
            <a:r>
              <a:rPr lang="en-IN" sz="2400" b="1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Bahnschrift SemiLight" panose="020B0502040204020203" pitchFamily="34" charset="0"/>
              </a:rPr>
              <a:t>Total = (1.5 hrs)</a:t>
            </a:r>
            <a:endParaRPr lang="en-IN" sz="2400" b="1" dirty="0">
              <a:solidFill>
                <a:schemeClr val="tx2">
                  <a:lumMod val="20000"/>
                  <a:lumOff val="80000"/>
                </a:schemeClr>
              </a:solidFill>
              <a:latin typeface="Bahnschrift Semi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4174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B18D6-E0F9-CC1A-3155-CAF7E4164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F99E9D4-810C-71F1-D2F4-82F244A80D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1356189"/>
            <a:ext cx="8791575" cy="1078786"/>
          </a:xfrm>
        </p:spPr>
        <p:txBody>
          <a:bodyPr>
            <a:normAutofit/>
          </a:bodyPr>
          <a:lstStyle/>
          <a:p>
            <a:pPr algn="l"/>
            <a:r>
              <a:rPr lang="en-US" sz="4000" b="0" dirty="0"/>
              <a:t>2.</a:t>
            </a:r>
            <a:r>
              <a:rPr lang="en-US" sz="4000" b="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Task management</a:t>
            </a:r>
            <a:endParaRPr lang="en-IN" sz="4000" b="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54F1CE8B-7AF0-199F-B677-7C5FDD0F57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2633031"/>
            <a:ext cx="8791575" cy="3562286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dirty="0">
                <a:effectLst/>
                <a:latin typeface="Bahnschrift SemiLight" panose="020B0502040204020203" pitchFamily="34" charset="0"/>
              </a:rPr>
              <a:t>PB-004 - Create Task (20 min)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dirty="0">
                <a:effectLst/>
                <a:latin typeface="Bahnschrift SemiLight" panose="020B0502040204020203" pitchFamily="34" charset="0"/>
              </a:rPr>
              <a:t>PB-005 -  Delete Task (15 min)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sz="240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Bahnschrift SemiLight" panose="020B0502040204020203" pitchFamily="34" charset="0"/>
              </a:rPr>
              <a:t>PB-006 – Edit Task (10 min)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Bahnschrift SemiLight" panose="020B0502040204020203" pitchFamily="34" charset="0"/>
              </a:rPr>
              <a:t>PB-007 – View Task (15 min)</a:t>
            </a:r>
          </a:p>
          <a:p>
            <a:pPr algn="l"/>
            <a:r>
              <a:rPr lang="en-IN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Bahnschrift SemiLight" panose="020B0502040204020203" pitchFamily="34" charset="0"/>
              </a:rPr>
              <a:t>     </a:t>
            </a:r>
            <a:r>
              <a:rPr lang="en-IN" b="1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Bahnschrift SemiLight" panose="020B0502040204020203" pitchFamily="34" charset="0"/>
              </a:rPr>
              <a:t>Total = (1 hr)</a:t>
            </a:r>
          </a:p>
          <a:p>
            <a:pPr algn="l"/>
            <a:endParaRPr lang="en-IN" dirty="0">
              <a:solidFill>
                <a:schemeClr val="tx2">
                  <a:lumMod val="20000"/>
                  <a:lumOff val="80000"/>
                </a:schemeClr>
              </a:solidFill>
              <a:effectLst/>
              <a:latin typeface="Bahnschrift SemiLight" panose="020B0502040204020203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en-IN" sz="24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3608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26B70-A4CB-937E-6FBD-92D5F367C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F2CFEC5-F0B6-D0B9-5101-ED8FF57F15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1356189"/>
            <a:ext cx="8791575" cy="1078786"/>
          </a:xfrm>
        </p:spPr>
        <p:txBody>
          <a:bodyPr>
            <a:normAutofit/>
          </a:bodyPr>
          <a:lstStyle/>
          <a:p>
            <a:pPr algn="l"/>
            <a:r>
              <a:rPr lang="en-IN" sz="4000" b="0" dirty="0"/>
              <a:t>3.Task Scheduling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3B96DCCC-5C58-F20B-6333-3D78B52661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2691829"/>
            <a:ext cx="8791575" cy="3503488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dirty="0">
                <a:effectLst/>
                <a:latin typeface="Bahnschrift SemiLight" panose="020B0502040204020203" pitchFamily="34" charset="0"/>
              </a:rPr>
              <a:t>PB-008 - Schedule Task (20 min)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Bahnschrift SemiLight" panose="020B0502040204020203" pitchFamily="34" charset="0"/>
              </a:rPr>
              <a:t>PB-009 – Recurring Task (30 min)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dirty="0">
                <a:effectLst/>
                <a:latin typeface="Bahnschrift SemiLight" panose="020B0502040204020203" pitchFamily="34" charset="0"/>
              </a:rPr>
              <a:t>PB-010 – Task Sorting (2 hr) </a:t>
            </a:r>
          </a:p>
          <a:p>
            <a:pPr algn="l"/>
            <a:r>
              <a:rPr lang="en-IN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Bahnschrift SemiLight" panose="020B0502040204020203" pitchFamily="34" charset="0"/>
              </a:rPr>
              <a:t>                     1. Priority-wise (1 hr)</a:t>
            </a:r>
          </a:p>
          <a:p>
            <a:pPr algn="l"/>
            <a:r>
              <a:rPr lang="en-IN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Bahnschrift SemiLight" panose="020B0502040204020203" pitchFamily="34" charset="0"/>
              </a:rPr>
              <a:t>                     2. Status-wise (1 hr)</a:t>
            </a:r>
          </a:p>
          <a:p>
            <a:pPr algn="l"/>
            <a:r>
              <a:rPr lang="en-IN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Bahnschrift SemiLight" panose="020B0502040204020203" pitchFamily="34" charset="0"/>
              </a:rPr>
              <a:t>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798525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B7F2E-1EC5-FC65-4F34-58E8993FF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C5F60B3-B932-650E-FE77-5FA1023022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1356189"/>
            <a:ext cx="8791575" cy="1078786"/>
          </a:xfrm>
        </p:spPr>
        <p:txBody>
          <a:bodyPr>
            <a:normAutofit/>
          </a:bodyPr>
          <a:lstStyle/>
          <a:p>
            <a:pPr algn="l"/>
            <a:r>
              <a:rPr lang="en-IN" sz="4000" b="0" dirty="0"/>
              <a:t>4. Automatic Task Execution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CB71504B-38C2-2AA0-9105-EB040ED752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2691829"/>
            <a:ext cx="8791575" cy="3503488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dirty="0">
                <a:effectLst/>
                <a:latin typeface="Bahnschrift SemiLight" panose="020B0502040204020203" pitchFamily="34" charset="0"/>
              </a:rPr>
              <a:t>PB-011 – Automatic Task Execution (1hr)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sz="2400" dirty="0">
                <a:solidFill>
                  <a:schemeClr val="tx2">
                    <a:lumMod val="20000"/>
                    <a:lumOff val="80000"/>
                  </a:schemeClr>
                </a:solidFill>
                <a:latin typeface="Bahnschrift SemiLight" panose="020B0502040204020203" pitchFamily="34" charset="0"/>
              </a:rPr>
              <a:t>PB-012 - </a:t>
            </a:r>
            <a:r>
              <a:rPr lang="en-IN" dirty="0">
                <a:effectLst/>
                <a:latin typeface="Bahnschrift SemiLight" panose="020B0502040204020203" pitchFamily="34" charset="0"/>
              </a:rPr>
              <a:t>Task Status Tracking (1hr)</a:t>
            </a:r>
          </a:p>
          <a:p>
            <a:pPr algn="l"/>
            <a:r>
              <a:rPr lang="en-IN" sz="240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Bahnschrift SemiLight" panose="020B0502040204020203" pitchFamily="34" charset="0"/>
              </a:rPr>
              <a:t>     </a:t>
            </a:r>
            <a:r>
              <a:rPr lang="en-IN" sz="2400" b="1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Bahnschrift SemiLight" panose="020B0502040204020203" pitchFamily="34" charset="0"/>
              </a:rPr>
              <a:t>Total = (2hrs)</a:t>
            </a:r>
            <a:endParaRPr lang="en-IN" sz="2400" b="1" dirty="0">
              <a:solidFill>
                <a:schemeClr val="tx2">
                  <a:lumMod val="20000"/>
                  <a:lumOff val="80000"/>
                </a:schemeClr>
              </a:solidFill>
              <a:latin typeface="Bahnschrift Semi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69077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03284-509B-A397-8D18-2A32CEA9A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1FDDFC0-64D7-77A3-CA0B-32572DEDDF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575353"/>
            <a:ext cx="8791575" cy="1982912"/>
          </a:xfrm>
        </p:spPr>
        <p:txBody>
          <a:bodyPr>
            <a:normAutofit/>
          </a:bodyPr>
          <a:lstStyle/>
          <a:p>
            <a:pPr algn="l"/>
            <a:r>
              <a:rPr lang="en-IN" b="0" dirty="0">
                <a:effectLst/>
              </a:rPr>
              <a:t>5. Voice Assistant</a:t>
            </a:r>
            <a:br>
              <a:rPr lang="en-IN" dirty="0">
                <a:effectLst/>
              </a:rPr>
            </a:br>
            <a:endParaRPr lang="en-IN" sz="40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32B7052A-6900-AD95-0372-84B9E9E011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2383604"/>
            <a:ext cx="8791575" cy="3811713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  <a:latin typeface="Bahnschrift SemiLight" panose="020B0502040204020203" pitchFamily="34" charset="0"/>
              </a:rPr>
              <a:t>PB-013 - Active voice Assistant (1hr)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  <a:latin typeface="Bahnschrift SemiLight" panose="020B0502040204020203" pitchFamily="34" charset="0"/>
              </a:rPr>
              <a:t>PB-014 - Create Task by voice 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  <a:latin typeface="Bahnschrift SemiLight" panose="020B0502040204020203" pitchFamily="34" charset="0"/>
              </a:rPr>
              <a:t>PB-015 - Schedule Task by voice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  <a:latin typeface="Bahnschrift SemiLight" panose="020B0502040204020203" pitchFamily="34" charset="0"/>
              </a:rPr>
              <a:t>PB-016 - View Task by voice 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  <a:latin typeface="Bahnschrift SemiLight" panose="020B0502040204020203" pitchFamily="34" charset="0"/>
              </a:rPr>
              <a:t>PB-017 - Voice Reminder Notification</a:t>
            </a:r>
          </a:p>
          <a:p>
            <a:pPr algn="l"/>
            <a:r>
              <a:rPr lang="en-IN" sz="24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Bahnschrift SemiLight" panose="020B0502040204020203" pitchFamily="34" charset="0"/>
              </a:rPr>
              <a:t>      Total = (1 hr)</a:t>
            </a:r>
          </a:p>
        </p:txBody>
      </p:sp>
    </p:spTree>
    <p:extLst>
      <p:ext uri="{BB962C8B-B14F-4D97-AF65-F5344CB8AC3E}">
        <p14:creationId xmlns:p14="http://schemas.microsoft.com/office/powerpoint/2010/main" val="32434712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2E6D2-213C-6CB6-C739-F3E1069B9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A578821-049F-5637-534A-F5F72CA725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575353"/>
            <a:ext cx="8791575" cy="1982912"/>
          </a:xfrm>
        </p:spPr>
        <p:txBody>
          <a:bodyPr>
            <a:normAutofit/>
          </a:bodyPr>
          <a:lstStyle/>
          <a:p>
            <a:pPr algn="l"/>
            <a:r>
              <a:rPr lang="en-IN" dirty="0">
                <a:effectLst/>
              </a:rPr>
              <a:t> </a:t>
            </a:r>
            <a:r>
              <a:rPr lang="en-IN" b="0" dirty="0">
                <a:effectLst/>
              </a:rPr>
              <a:t>6. Email Notification</a:t>
            </a:r>
            <a:br>
              <a:rPr lang="en-IN" dirty="0">
                <a:effectLst/>
              </a:rPr>
            </a:br>
            <a:endParaRPr lang="en-IN" sz="40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E2962662-D783-B833-879B-E6E9CA5D39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2383604"/>
            <a:ext cx="8791575" cy="3811713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sz="240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Bahnschrift SemiLight" panose="020B0502040204020203" pitchFamily="34" charset="0"/>
              </a:rPr>
              <a:t>PB-018 - </a:t>
            </a:r>
            <a:r>
              <a:rPr lang="en-US" sz="2400" dirty="0">
                <a:solidFill>
                  <a:schemeClr val="tx2">
                    <a:lumMod val="20000"/>
                    <a:lumOff val="80000"/>
                  </a:schemeClr>
                </a:solidFill>
                <a:latin typeface="Bahnschrift SemiLight" panose="020B0502040204020203" pitchFamily="34" charset="0"/>
              </a:rPr>
              <a:t> Send Reminder Notification (1.5 </a:t>
            </a:r>
            <a:r>
              <a:rPr lang="en-US" sz="24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Bahnschrift SemiLight" panose="020B0502040204020203" pitchFamily="34" charset="0"/>
              </a:rPr>
              <a:t>hrs</a:t>
            </a:r>
            <a:r>
              <a:rPr lang="en-US" sz="2400" dirty="0">
                <a:solidFill>
                  <a:schemeClr val="tx2">
                    <a:lumMod val="20000"/>
                    <a:lumOff val="80000"/>
                  </a:schemeClr>
                </a:solidFill>
                <a:latin typeface="Bahnschrift SemiLight" panose="020B0502040204020203" pitchFamily="34" charset="0"/>
              </a:rPr>
              <a:t>)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Bahnschrift SemiLight" panose="020B0502040204020203" pitchFamily="34" charset="0"/>
              </a:rPr>
              <a:t>PB-019 - </a:t>
            </a:r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  <a:latin typeface="Bahnschrift SemiLight" panose="020B0502040204020203" pitchFamily="34" charset="0"/>
              </a:rPr>
              <a:t>Send Pop –up On Time of Task (1.5 </a:t>
            </a:r>
            <a:r>
              <a:rPr lang="en-US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Bahnschrift SemiLight" panose="020B0502040204020203" pitchFamily="34" charset="0"/>
              </a:rPr>
              <a:t>hrs</a:t>
            </a:r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  <a:latin typeface="Bahnschrift SemiLight" panose="020B0502040204020203" pitchFamily="34" charset="0"/>
              </a:rPr>
              <a:t>)</a:t>
            </a:r>
            <a:endParaRPr lang="en-US" sz="2400" dirty="0">
              <a:solidFill>
                <a:schemeClr val="tx2">
                  <a:lumMod val="20000"/>
                  <a:lumOff val="80000"/>
                </a:schemeClr>
              </a:solidFill>
              <a:latin typeface="Bahnschrift SemiLight" panose="020B0502040204020203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Bahnschrift SemiLight" panose="020B0502040204020203" pitchFamily="34" charset="0"/>
              </a:rPr>
              <a:t>PB-020 - </a:t>
            </a:r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  <a:latin typeface="Bahnschrift SemiLight" panose="020B0502040204020203" pitchFamily="34" charset="0"/>
              </a:rPr>
              <a:t>Send Task Completion Notification ( 30 min)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Bahnschrift SemiLight" panose="020B0502040204020203" pitchFamily="34" charset="0"/>
              </a:rPr>
              <a:t>PB-021 - </a:t>
            </a:r>
            <a:r>
              <a:rPr lang="en-US" sz="2400" dirty="0">
                <a:solidFill>
                  <a:schemeClr val="tx2">
                    <a:lumMod val="20000"/>
                    <a:lumOff val="80000"/>
                  </a:schemeClr>
                </a:solidFill>
                <a:latin typeface="Bahnschrift SemiLight" panose="020B0502040204020203" pitchFamily="34" charset="0"/>
              </a:rPr>
              <a:t>Send failed Task Alerts (30 min)</a:t>
            </a:r>
          </a:p>
          <a:p>
            <a:pPr algn="l"/>
            <a:r>
              <a:rPr lang="en-US" sz="2400" dirty="0">
                <a:solidFill>
                  <a:schemeClr val="tx2">
                    <a:lumMod val="20000"/>
                    <a:lumOff val="80000"/>
                  </a:schemeClr>
                </a:solidFill>
                <a:latin typeface="Bahnschrift SemiLight" panose="020B0502040204020203" pitchFamily="34" charset="0"/>
              </a:rPr>
              <a:t>     </a:t>
            </a:r>
            <a:r>
              <a:rPr lang="en-US" sz="24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Bahnschrift SemiLight" panose="020B0502040204020203" pitchFamily="34" charset="0"/>
              </a:rPr>
              <a:t>Total = (4 </a:t>
            </a:r>
            <a:r>
              <a:rPr lang="en-US" sz="2400" b="1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Bahnschrift SemiLight" panose="020B0502040204020203" pitchFamily="34" charset="0"/>
              </a:rPr>
              <a:t>hrs</a:t>
            </a:r>
            <a:r>
              <a:rPr lang="en-US" sz="24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Bahnschrift SemiLight" panose="020B0502040204020203" pitchFamily="34" charset="0"/>
              </a:rPr>
              <a:t>)</a:t>
            </a:r>
            <a:endParaRPr lang="en-IN" sz="2400" b="1" dirty="0">
              <a:solidFill>
                <a:schemeClr val="tx2">
                  <a:lumMod val="20000"/>
                  <a:lumOff val="80000"/>
                </a:schemeClr>
              </a:solidFill>
              <a:latin typeface="Bahnschrift Semi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72824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95217-7ABD-70C9-CCBA-9706A2538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FFD1790-23AB-296F-97A6-B55603F2D8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1150705"/>
            <a:ext cx="8791575" cy="2034284"/>
          </a:xfrm>
        </p:spPr>
        <p:txBody>
          <a:bodyPr>
            <a:normAutofit/>
          </a:bodyPr>
          <a:lstStyle/>
          <a:p>
            <a:pPr algn="l"/>
            <a:r>
              <a:rPr lang="en-IN" b="0" dirty="0">
                <a:effectLst/>
              </a:rPr>
              <a:t>7. Dashboard</a:t>
            </a:r>
            <a:br>
              <a:rPr lang="en-IN" dirty="0">
                <a:effectLst/>
              </a:rPr>
            </a:br>
            <a:br>
              <a:rPr lang="en-IN" dirty="0">
                <a:effectLst/>
              </a:rPr>
            </a:br>
            <a:endParaRPr lang="en-IN" sz="40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8A282C69-5DB8-26F4-E1CC-ECDA6E1A40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2383604"/>
            <a:ext cx="8791575" cy="3811713"/>
          </a:xfrm>
        </p:spPr>
        <p:txBody>
          <a:bodyPr>
            <a:normAutofit/>
          </a:bodyPr>
          <a:lstStyle/>
          <a:p>
            <a:pPr marL="342900" lvl="0" indent="-342900" algn="l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Bahnschrift SemiLight" panose="020B0502040204020203" pitchFamily="34" charset="0"/>
              </a:rPr>
              <a:t>PB-022 - </a:t>
            </a:r>
            <a:r>
              <a:rPr lang="en-IN" dirty="0">
                <a:effectLst/>
                <a:latin typeface="Bahnschrift SemiLight" panose="020B0502040204020203" pitchFamily="34" charset="0"/>
              </a:rPr>
              <a:t>view total tasks ( 30 min)</a:t>
            </a:r>
          </a:p>
          <a:p>
            <a:pPr marL="342900" lvl="0" indent="-342900" algn="l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Bahnschrift SemiLight" panose="020B0502040204020203" pitchFamily="34" charset="0"/>
              </a:rPr>
              <a:t>PB-023 - </a:t>
            </a:r>
            <a:r>
              <a:rPr lang="en-IN" dirty="0">
                <a:effectLst/>
                <a:latin typeface="Bahnschrift SemiLight" panose="020B0502040204020203" pitchFamily="34" charset="0"/>
              </a:rPr>
              <a:t>view completed tasks (15 min)</a:t>
            </a:r>
          </a:p>
          <a:p>
            <a:pPr marL="342900" lvl="0" indent="-342900" algn="l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Bahnschrift SemiLight" panose="020B0502040204020203" pitchFamily="34" charset="0"/>
              </a:rPr>
              <a:t>PB-024 - </a:t>
            </a:r>
            <a:r>
              <a:rPr lang="en-IN" dirty="0">
                <a:effectLst/>
                <a:latin typeface="Bahnschrift SemiLight" panose="020B0502040204020203" pitchFamily="34" charset="0"/>
              </a:rPr>
              <a:t>view pending tasks (20 min)</a:t>
            </a:r>
          </a:p>
          <a:p>
            <a:pPr marL="342900" lvl="0" indent="-342900" algn="l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Bahnschrift SemiLight" panose="020B0502040204020203" pitchFamily="34" charset="0"/>
              </a:rPr>
              <a:t>PB-025 - </a:t>
            </a:r>
            <a:r>
              <a:rPr lang="en-IN" dirty="0">
                <a:effectLst/>
                <a:latin typeface="Bahnschrift SemiLight" panose="020B0502040204020203" pitchFamily="34" charset="0"/>
              </a:rPr>
              <a:t>view upcoming tasks (30 min) </a:t>
            </a:r>
          </a:p>
          <a:p>
            <a:pPr marL="342900" lvl="0" indent="-342900" algn="l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Bahnschrift SemiLight" panose="020B0502040204020203" pitchFamily="34" charset="0"/>
              </a:rPr>
              <a:t>PB-026 - </a:t>
            </a:r>
            <a:r>
              <a:rPr lang="en-IN" dirty="0">
                <a:effectLst/>
                <a:latin typeface="Bahnschrift SemiLight" panose="020B0502040204020203" pitchFamily="34" charset="0"/>
              </a:rPr>
              <a:t>view overdue tasks (25 min)</a:t>
            </a:r>
          </a:p>
          <a:p>
            <a:pPr lvl="0" algn="l"/>
            <a:r>
              <a:rPr lang="en-IN" dirty="0">
                <a:effectLst/>
                <a:latin typeface="Bahnschrift SemiLight" panose="020B0502040204020203" pitchFamily="34" charset="0"/>
              </a:rPr>
              <a:t>                             </a:t>
            </a:r>
            <a:r>
              <a:rPr lang="en-IN" b="1" dirty="0">
                <a:effectLst/>
                <a:latin typeface="Bahnschrift SemiLight" panose="020B0502040204020203" pitchFamily="34" charset="0"/>
              </a:rPr>
              <a:t>(Total = 2 hrs)</a:t>
            </a:r>
            <a:endParaRPr lang="en-IN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594472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0EB94-763B-2899-BDC1-C7A471875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8416ECA-9F71-6547-415A-CCD82CEEBB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565079"/>
            <a:ext cx="8791575" cy="2506894"/>
          </a:xfrm>
        </p:spPr>
        <p:txBody>
          <a:bodyPr>
            <a:normAutofit/>
          </a:bodyPr>
          <a:lstStyle/>
          <a:p>
            <a:pPr algn="l"/>
            <a:r>
              <a:rPr lang="en-IN" b="0" dirty="0">
                <a:effectLst/>
              </a:rPr>
              <a:t>8. Reports &amp; History</a:t>
            </a:r>
            <a:br>
              <a:rPr lang="en-IN" dirty="0">
                <a:effectLst/>
              </a:rPr>
            </a:br>
            <a:br>
              <a:rPr lang="en-IN" dirty="0">
                <a:effectLst/>
              </a:rPr>
            </a:br>
            <a:endParaRPr lang="en-IN" sz="40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C360EC93-9EC5-811A-20EA-336B382A34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2383604"/>
            <a:ext cx="8791575" cy="3811713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Bahnschrift SemiLight" panose="020B0502040204020203" pitchFamily="34" charset="0"/>
              </a:rPr>
              <a:t>PB-027 - </a:t>
            </a:r>
            <a:r>
              <a:rPr lang="en-US" sz="2400" dirty="0">
                <a:solidFill>
                  <a:schemeClr val="tx2">
                    <a:lumMod val="20000"/>
                    <a:lumOff val="80000"/>
                  </a:schemeClr>
                </a:solidFill>
                <a:latin typeface="Bahnschrift SemiLight" panose="020B0502040204020203" pitchFamily="34" charset="0"/>
              </a:rPr>
              <a:t>View Task History  (1hr)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Bahnschrift SemiLight" panose="020B0502040204020203" pitchFamily="34" charset="0"/>
              </a:rPr>
              <a:t>PB-028 - </a:t>
            </a:r>
            <a:r>
              <a:rPr lang="en-US" sz="2400" dirty="0">
                <a:solidFill>
                  <a:schemeClr val="tx2">
                    <a:lumMod val="20000"/>
                    <a:lumOff val="80000"/>
                  </a:schemeClr>
                </a:solidFill>
                <a:latin typeface="Bahnschrift SemiLight" panose="020B0502040204020203" pitchFamily="34" charset="0"/>
              </a:rPr>
              <a:t>Generate Task Report (1hr)</a:t>
            </a:r>
          </a:p>
          <a:p>
            <a:pPr algn="l"/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  <a:latin typeface="Bahnschrift SemiLight" panose="020B0502040204020203" pitchFamily="34" charset="0"/>
              </a:rPr>
              <a:t>     </a:t>
            </a:r>
            <a:r>
              <a:rPr lang="en-US" b="1" dirty="0">
                <a:solidFill>
                  <a:schemeClr val="tx2">
                    <a:lumMod val="20000"/>
                    <a:lumOff val="80000"/>
                  </a:schemeClr>
                </a:solidFill>
                <a:latin typeface="Bahnschrift SemiLight" panose="020B0502040204020203" pitchFamily="34" charset="0"/>
              </a:rPr>
              <a:t>Total = (2 </a:t>
            </a:r>
            <a:r>
              <a:rPr lang="en-US" b="1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Bahnschrift SemiLight" panose="020B0502040204020203" pitchFamily="34" charset="0"/>
              </a:rPr>
              <a:t>hrs</a:t>
            </a:r>
            <a:r>
              <a:rPr lang="en-US" b="1" dirty="0">
                <a:solidFill>
                  <a:schemeClr val="tx2">
                    <a:lumMod val="20000"/>
                    <a:lumOff val="80000"/>
                  </a:schemeClr>
                </a:solidFill>
                <a:latin typeface="Bahnschrift SemiLight" panose="020B0502040204020203" pitchFamily="34" charset="0"/>
              </a:rPr>
              <a:t>)</a:t>
            </a:r>
            <a:endParaRPr lang="en-US" sz="2400" b="1" dirty="0">
              <a:solidFill>
                <a:schemeClr val="tx2">
                  <a:lumMod val="20000"/>
                  <a:lumOff val="80000"/>
                </a:schemeClr>
              </a:solidFill>
              <a:latin typeface="Bahnschrift Semi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79176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D6159-7379-5CC3-CF88-72A2B287F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B49819B-DEA1-4B34-3ABD-97598BB56F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873303"/>
            <a:ext cx="8791575" cy="2373330"/>
          </a:xfrm>
        </p:spPr>
        <p:txBody>
          <a:bodyPr>
            <a:normAutofit fontScale="90000"/>
          </a:bodyPr>
          <a:lstStyle/>
          <a:p>
            <a:pPr algn="l"/>
            <a:r>
              <a:rPr lang="en-IN" sz="4400" b="0" dirty="0">
                <a:effectLst/>
              </a:rPr>
              <a:t>EX - Cab Remainder Management</a:t>
            </a:r>
            <a:br>
              <a:rPr lang="en-IN" dirty="0">
                <a:effectLst/>
              </a:rPr>
            </a:br>
            <a:br>
              <a:rPr lang="en-IN" dirty="0">
                <a:effectLst/>
              </a:rPr>
            </a:br>
            <a:endParaRPr lang="en-IN" sz="40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2F217C21-E729-35C3-211B-CF18619814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2578813"/>
            <a:ext cx="8791575" cy="3616504"/>
          </a:xfrm>
        </p:spPr>
        <p:txBody>
          <a:bodyPr>
            <a:normAutofit/>
          </a:bodyPr>
          <a:lstStyle/>
          <a:p>
            <a:pPr marL="342900" lvl="0" indent="-342900" algn="l">
              <a:buFont typeface="Wingdings" panose="05000000000000000000" pitchFamily="2" charset="2"/>
              <a:buChar char="§"/>
            </a:pPr>
            <a:r>
              <a:rPr lang="en-IN" dirty="0">
                <a:effectLst/>
                <a:latin typeface="Bahnschrift SemiLight" panose="020B0502040204020203" pitchFamily="34" charset="0"/>
              </a:rPr>
              <a:t>User can create tasks using voice commands.</a:t>
            </a:r>
          </a:p>
          <a:p>
            <a:pPr marL="342900" lvl="0" indent="-342900" algn="l">
              <a:buFont typeface="Wingdings" panose="05000000000000000000" pitchFamily="2" charset="2"/>
              <a:buChar char="§"/>
            </a:pPr>
            <a:r>
              <a:rPr lang="en-IN" dirty="0">
                <a:effectLst/>
                <a:latin typeface="Bahnschrift SemiLight" panose="020B0502040204020203" pitchFamily="34" charset="0"/>
              </a:rPr>
              <a:t>User cab performs all the tasks using Voice command.</a:t>
            </a:r>
          </a:p>
          <a:p>
            <a:pPr marL="342900" lvl="0" indent="-342900" algn="l">
              <a:buFont typeface="Wingdings" panose="05000000000000000000" pitchFamily="2" charset="2"/>
              <a:buChar char="§"/>
            </a:pPr>
            <a:r>
              <a:rPr lang="en-IN" dirty="0">
                <a:effectLst/>
                <a:latin typeface="Bahnschrift SemiLight" panose="020B0502040204020203" pitchFamily="34" charset="0"/>
              </a:rPr>
              <a:t>System responds using Voice output.</a:t>
            </a:r>
          </a:p>
          <a:p>
            <a:endParaRPr lang="en-IN" sz="24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34518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332E3-3EC1-9501-4E3E-95606EB0B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5182DE3-8151-34ED-D789-5DAA7E5299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95236" y="2"/>
            <a:ext cx="8972763" cy="1706330"/>
          </a:xfrm>
        </p:spPr>
        <p:txBody>
          <a:bodyPr>
            <a:normAutofit/>
          </a:bodyPr>
          <a:lstStyle/>
          <a:p>
            <a:pPr marL="571500" indent="-571500" algn="l">
              <a:buFont typeface="Wingdings" panose="05000000000000000000" pitchFamily="2" charset="2"/>
              <a:buChar char="v"/>
            </a:pPr>
            <a:r>
              <a:rPr lang="en-IN" sz="4000" b="0" dirty="0">
                <a:effectLst/>
              </a:rPr>
              <a:t>ROLES AND WORKING HOUR </a:t>
            </a:r>
            <a:r>
              <a:rPr lang="en-IN" sz="2400" b="0" dirty="0">
                <a:effectLst/>
              </a:rPr>
              <a:t>DEVELOPERs - </a:t>
            </a:r>
            <a:br>
              <a:rPr lang="en-IN" dirty="0">
                <a:effectLst/>
              </a:rPr>
            </a:br>
            <a:endParaRPr lang="en-IN" sz="40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45B5F26D-4EBA-56A4-F4CB-C6B15434A7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1259" y="1237598"/>
            <a:ext cx="11260476" cy="5528370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                                 </a:t>
            </a:r>
            <a:endParaRPr lang="en-IN" sz="24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3E503A-BD9E-1327-F0BE-9D9FDF3E9ECA}"/>
              </a:ext>
            </a:extLst>
          </p:cNvPr>
          <p:cNvSpPr/>
          <p:nvPr/>
        </p:nvSpPr>
        <p:spPr>
          <a:xfrm>
            <a:off x="2944777" y="3121595"/>
            <a:ext cx="2352782" cy="156460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83DD1A-A39E-B5B9-87A7-9FC1E93D0109}"/>
              </a:ext>
            </a:extLst>
          </p:cNvPr>
          <p:cNvSpPr/>
          <p:nvPr/>
        </p:nvSpPr>
        <p:spPr>
          <a:xfrm>
            <a:off x="2944777" y="1341400"/>
            <a:ext cx="2352782" cy="153085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A01073-7E5D-8DBA-A05D-653D46DB3B84}"/>
              </a:ext>
            </a:extLst>
          </p:cNvPr>
          <p:cNvSpPr/>
          <p:nvPr/>
        </p:nvSpPr>
        <p:spPr>
          <a:xfrm>
            <a:off x="5382717" y="1346736"/>
            <a:ext cx="2352782" cy="153085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BBA900-CBCC-EF77-C597-BCD36897095C}"/>
              </a:ext>
            </a:extLst>
          </p:cNvPr>
          <p:cNvSpPr/>
          <p:nvPr/>
        </p:nvSpPr>
        <p:spPr>
          <a:xfrm>
            <a:off x="7793642" y="1339538"/>
            <a:ext cx="2352782" cy="153085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7F9E4A2-6B76-5A8B-46E6-D929A6A032CA}"/>
              </a:ext>
            </a:extLst>
          </p:cNvPr>
          <p:cNvSpPr/>
          <p:nvPr/>
        </p:nvSpPr>
        <p:spPr>
          <a:xfrm>
            <a:off x="131073" y="1203939"/>
            <a:ext cx="2352781" cy="1767155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648FF630-13A5-8A99-9A0B-728EDFE6F58B}"/>
              </a:ext>
            </a:extLst>
          </p:cNvPr>
          <p:cNvSpPr/>
          <p:nvPr/>
        </p:nvSpPr>
        <p:spPr>
          <a:xfrm>
            <a:off x="2485289" y="1845201"/>
            <a:ext cx="447617" cy="484632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94E71F-8C6B-34CC-9C5B-5AC4AAA051A9}"/>
              </a:ext>
            </a:extLst>
          </p:cNvPr>
          <p:cNvSpPr/>
          <p:nvPr/>
        </p:nvSpPr>
        <p:spPr>
          <a:xfrm>
            <a:off x="5363274" y="3121595"/>
            <a:ext cx="2352782" cy="153085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2B27802-3971-5A70-2860-06484845E657}"/>
              </a:ext>
            </a:extLst>
          </p:cNvPr>
          <p:cNvSpPr/>
          <p:nvPr/>
        </p:nvSpPr>
        <p:spPr>
          <a:xfrm>
            <a:off x="132508" y="3093072"/>
            <a:ext cx="2352781" cy="1767155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5830108-E026-DC65-EF9E-0F7D7C907303}"/>
              </a:ext>
            </a:extLst>
          </p:cNvPr>
          <p:cNvSpPr/>
          <p:nvPr/>
        </p:nvSpPr>
        <p:spPr>
          <a:xfrm>
            <a:off x="7781771" y="3121595"/>
            <a:ext cx="2352782" cy="153085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EA96571-9DF3-FA38-429E-C7C959B05BA0}"/>
              </a:ext>
            </a:extLst>
          </p:cNvPr>
          <p:cNvSpPr/>
          <p:nvPr/>
        </p:nvSpPr>
        <p:spPr>
          <a:xfrm>
            <a:off x="131495" y="4973127"/>
            <a:ext cx="2352781" cy="1767155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2794AF1-2AF1-0900-CE9C-9AAB30B2D47A}"/>
              </a:ext>
            </a:extLst>
          </p:cNvPr>
          <p:cNvSpPr/>
          <p:nvPr/>
        </p:nvSpPr>
        <p:spPr>
          <a:xfrm>
            <a:off x="2928088" y="4973127"/>
            <a:ext cx="2352782" cy="153085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FF6E53C-FE2E-3F4F-61E5-A84FA59F3083}"/>
              </a:ext>
            </a:extLst>
          </p:cNvPr>
          <p:cNvSpPr/>
          <p:nvPr/>
        </p:nvSpPr>
        <p:spPr>
          <a:xfrm>
            <a:off x="5363274" y="4973127"/>
            <a:ext cx="2352782" cy="153085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2B5BF8-C0AB-7EC7-F610-A502904446E7}"/>
              </a:ext>
            </a:extLst>
          </p:cNvPr>
          <p:cNvSpPr/>
          <p:nvPr/>
        </p:nvSpPr>
        <p:spPr>
          <a:xfrm>
            <a:off x="7798460" y="4943781"/>
            <a:ext cx="2352782" cy="153085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DEF0D379-F42F-C944-9782-0B4B6EDAC87B}"/>
              </a:ext>
            </a:extLst>
          </p:cNvPr>
          <p:cNvSpPr/>
          <p:nvPr/>
        </p:nvSpPr>
        <p:spPr>
          <a:xfrm>
            <a:off x="2484276" y="3734333"/>
            <a:ext cx="480343" cy="484632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59453BDF-5A9B-C449-8FE3-639697345535}"/>
              </a:ext>
            </a:extLst>
          </p:cNvPr>
          <p:cNvSpPr/>
          <p:nvPr/>
        </p:nvSpPr>
        <p:spPr>
          <a:xfrm>
            <a:off x="2483854" y="5597837"/>
            <a:ext cx="449052" cy="484632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CBD3D2-2383-4D90-0326-0BAF06BD00B0}"/>
              </a:ext>
            </a:extLst>
          </p:cNvPr>
          <p:cNvSpPr txBox="1"/>
          <p:nvPr/>
        </p:nvSpPr>
        <p:spPr>
          <a:xfrm>
            <a:off x="710522" y="1636301"/>
            <a:ext cx="12963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Priya Bhavsar</a:t>
            </a:r>
            <a:endParaRPr lang="en-IN" sz="2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F34A9A3-07CC-411E-A95D-265812D2F68D}"/>
              </a:ext>
            </a:extLst>
          </p:cNvPr>
          <p:cNvSpPr txBox="1"/>
          <p:nvPr/>
        </p:nvSpPr>
        <p:spPr>
          <a:xfrm>
            <a:off x="672956" y="3505274"/>
            <a:ext cx="19829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Dhanshri Mahajan</a:t>
            </a:r>
            <a:endParaRPr lang="en-IN" sz="2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08AC4F-35F1-C198-0F6B-555C20F9C7DA}"/>
              </a:ext>
            </a:extLst>
          </p:cNvPr>
          <p:cNvSpPr txBox="1"/>
          <p:nvPr/>
        </p:nvSpPr>
        <p:spPr>
          <a:xfrm>
            <a:off x="651513" y="5441205"/>
            <a:ext cx="22038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Kanishka </a:t>
            </a:r>
            <a:r>
              <a:rPr lang="en-US" sz="2400" dirty="0" err="1"/>
              <a:t>Gawali</a:t>
            </a:r>
            <a:endParaRPr lang="en-IN" sz="24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52C80EB-5113-7CD7-7560-AE69094E82CC}"/>
              </a:ext>
            </a:extLst>
          </p:cNvPr>
          <p:cNvSpPr/>
          <p:nvPr/>
        </p:nvSpPr>
        <p:spPr>
          <a:xfrm>
            <a:off x="10241624" y="1324607"/>
            <a:ext cx="1819303" cy="153085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5184F03-B957-5D24-0E6F-0CF8E193FFAB}"/>
              </a:ext>
            </a:extLst>
          </p:cNvPr>
          <p:cNvSpPr/>
          <p:nvPr/>
        </p:nvSpPr>
        <p:spPr>
          <a:xfrm>
            <a:off x="10240189" y="3121595"/>
            <a:ext cx="1819303" cy="153085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50E52C5-401A-1931-5AA9-55A9B9D48F50}"/>
              </a:ext>
            </a:extLst>
          </p:cNvPr>
          <p:cNvSpPr/>
          <p:nvPr/>
        </p:nvSpPr>
        <p:spPr>
          <a:xfrm>
            <a:off x="10242568" y="4943781"/>
            <a:ext cx="1819303" cy="153085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6FF595D-10E8-5237-149C-B844673A7996}"/>
              </a:ext>
            </a:extLst>
          </p:cNvPr>
          <p:cNvSpPr txBox="1"/>
          <p:nvPr/>
        </p:nvSpPr>
        <p:spPr>
          <a:xfrm>
            <a:off x="2905890" y="1371038"/>
            <a:ext cx="2359430" cy="946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50" dirty="0">
                <a:solidFill>
                  <a:schemeClr val="tx2">
                    <a:lumMod val="25000"/>
                  </a:schemeClr>
                </a:solidFill>
              </a:rPr>
              <a:t>1.User Authentication</a:t>
            </a:r>
          </a:p>
          <a:p>
            <a:endParaRPr lang="en-IN" sz="185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D51370D-9E0B-8DB0-5B82-EA0C4CD6D4C0}"/>
              </a:ext>
            </a:extLst>
          </p:cNvPr>
          <p:cNvSpPr txBox="1"/>
          <p:nvPr/>
        </p:nvSpPr>
        <p:spPr>
          <a:xfrm>
            <a:off x="3014800" y="3064334"/>
            <a:ext cx="2329463" cy="654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50" dirty="0">
                <a:solidFill>
                  <a:schemeClr val="tx2">
                    <a:lumMod val="25000"/>
                  </a:schemeClr>
                </a:solidFill>
              </a:rPr>
              <a:t>1. Task Operations </a:t>
            </a:r>
          </a:p>
          <a:p>
            <a:endParaRPr lang="en-IN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FFD1155-864E-FED5-A2D8-D7BFA63E6505}"/>
              </a:ext>
            </a:extLst>
          </p:cNvPr>
          <p:cNvSpPr txBox="1"/>
          <p:nvPr/>
        </p:nvSpPr>
        <p:spPr>
          <a:xfrm>
            <a:off x="5456682" y="3199832"/>
            <a:ext cx="2165965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50" dirty="0">
                <a:solidFill>
                  <a:schemeClr val="tx2">
                    <a:lumMod val="25000"/>
                  </a:schemeClr>
                </a:solidFill>
              </a:rPr>
              <a:t>2. Email Notifications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1548F6A-89FF-BBA2-61BB-9827579BC797}"/>
              </a:ext>
            </a:extLst>
          </p:cNvPr>
          <p:cNvSpPr txBox="1"/>
          <p:nvPr/>
        </p:nvSpPr>
        <p:spPr>
          <a:xfrm>
            <a:off x="5355702" y="1349928"/>
            <a:ext cx="2500324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50" dirty="0">
                <a:solidFill>
                  <a:schemeClr val="tx2">
                    <a:lumMod val="25000"/>
                  </a:schemeClr>
                </a:solidFill>
              </a:rPr>
              <a:t>2. Task Sort</a:t>
            </a:r>
          </a:p>
          <a:p>
            <a:r>
              <a:rPr lang="en-US" sz="1850" dirty="0">
                <a:solidFill>
                  <a:schemeClr val="tx2">
                    <a:lumMod val="25000"/>
                  </a:schemeClr>
                </a:solidFill>
              </a:rPr>
              <a:t>   Priority –wise (1hr)</a:t>
            </a:r>
          </a:p>
          <a:p>
            <a:r>
              <a:rPr lang="en-US" sz="1850" dirty="0">
                <a:solidFill>
                  <a:schemeClr val="tx2">
                    <a:lumMod val="25000"/>
                  </a:schemeClr>
                </a:solidFill>
              </a:rPr>
              <a:t>   Status-wise (1hr)</a:t>
            </a:r>
          </a:p>
          <a:p>
            <a:endParaRPr lang="en-IN" sz="1850" dirty="0">
              <a:solidFill>
                <a:schemeClr val="tx2">
                  <a:lumMod val="25000"/>
                </a:schemeClr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DDEDE7C-BE63-2531-0E30-B9D877B8442F}"/>
              </a:ext>
            </a:extLst>
          </p:cNvPr>
          <p:cNvSpPr txBox="1"/>
          <p:nvPr/>
        </p:nvSpPr>
        <p:spPr>
          <a:xfrm>
            <a:off x="7793642" y="1400309"/>
            <a:ext cx="24184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25000"/>
                  </a:schemeClr>
                </a:solidFill>
              </a:rPr>
              <a:t>3.Pop-up Notification (External)</a:t>
            </a:r>
            <a:endParaRPr lang="en-IN" dirty="0">
              <a:solidFill>
                <a:schemeClr val="tx2">
                  <a:lumMod val="25000"/>
                </a:schemeClr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6B049FB-5DFE-DE7A-07C4-46ABF90B002F}"/>
              </a:ext>
            </a:extLst>
          </p:cNvPr>
          <p:cNvSpPr txBox="1"/>
          <p:nvPr/>
        </p:nvSpPr>
        <p:spPr>
          <a:xfrm>
            <a:off x="7931398" y="3182672"/>
            <a:ext cx="1645568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50" dirty="0">
                <a:solidFill>
                  <a:schemeClr val="tx2">
                    <a:lumMod val="25000"/>
                  </a:schemeClr>
                </a:solidFill>
              </a:rPr>
              <a:t>3.Dashboard(External)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C5F7D68-ACEA-3154-6F8B-7C9B7572588B}"/>
              </a:ext>
            </a:extLst>
          </p:cNvPr>
          <p:cNvSpPr txBox="1"/>
          <p:nvPr/>
        </p:nvSpPr>
        <p:spPr>
          <a:xfrm>
            <a:off x="3015128" y="5047240"/>
            <a:ext cx="1910617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50" dirty="0">
                <a:solidFill>
                  <a:schemeClr val="tx2">
                    <a:lumMod val="25000"/>
                  </a:schemeClr>
                </a:solidFill>
              </a:rPr>
              <a:t>1. Task status Tracking.</a:t>
            </a:r>
          </a:p>
          <a:p>
            <a:endParaRPr lang="en-IN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453E1FB-8242-004F-1FBF-6CDF1C5E4635}"/>
              </a:ext>
            </a:extLst>
          </p:cNvPr>
          <p:cNvSpPr txBox="1"/>
          <p:nvPr/>
        </p:nvSpPr>
        <p:spPr>
          <a:xfrm>
            <a:off x="5558565" y="5047240"/>
            <a:ext cx="1962198" cy="654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50" dirty="0">
                <a:solidFill>
                  <a:schemeClr val="tx2">
                    <a:lumMod val="25000"/>
                  </a:schemeClr>
                </a:solidFill>
              </a:rPr>
              <a:t>2.Reports</a:t>
            </a:r>
            <a:r>
              <a:rPr lang="en-IN" sz="1850" dirty="0"/>
              <a:t>.</a:t>
            </a:r>
          </a:p>
          <a:p>
            <a:endParaRPr lang="en-IN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71B8117-62EC-B496-7233-05AEA4689BA7}"/>
              </a:ext>
            </a:extLst>
          </p:cNvPr>
          <p:cNvSpPr txBox="1"/>
          <p:nvPr/>
        </p:nvSpPr>
        <p:spPr>
          <a:xfrm>
            <a:off x="8791545" y="5435736"/>
            <a:ext cx="422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25000"/>
                  </a:schemeClr>
                </a:solidFill>
              </a:rPr>
              <a:t>-</a:t>
            </a:r>
            <a:endParaRPr lang="en-IN" dirty="0">
              <a:solidFill>
                <a:schemeClr val="tx2">
                  <a:lumMod val="25000"/>
                </a:schemeClr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6E9124D-90A0-0D92-EC2E-2F5F6CC4F559}"/>
              </a:ext>
            </a:extLst>
          </p:cNvPr>
          <p:cNvSpPr txBox="1"/>
          <p:nvPr/>
        </p:nvSpPr>
        <p:spPr>
          <a:xfrm>
            <a:off x="10301777" y="1477460"/>
            <a:ext cx="17886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25000"/>
                  </a:schemeClr>
                </a:solidFill>
              </a:rPr>
              <a:t>Total </a:t>
            </a:r>
            <a:r>
              <a:rPr lang="en-US" dirty="0" err="1">
                <a:solidFill>
                  <a:schemeClr val="tx2">
                    <a:lumMod val="25000"/>
                  </a:schemeClr>
                </a:solidFill>
              </a:rPr>
              <a:t>hrs</a:t>
            </a:r>
            <a:r>
              <a:rPr lang="en-US" dirty="0">
                <a:solidFill>
                  <a:schemeClr val="tx2">
                    <a:lumMod val="25000"/>
                  </a:schemeClr>
                </a:solidFill>
              </a:rPr>
              <a:t> = </a:t>
            </a:r>
          </a:p>
          <a:p>
            <a:r>
              <a:rPr lang="en-US" dirty="0">
                <a:solidFill>
                  <a:schemeClr val="tx2">
                    <a:lumMod val="25000"/>
                  </a:schemeClr>
                </a:solidFill>
              </a:rPr>
              <a:t>6 hrs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FC890D0-1C16-039E-7C9E-D1A8C54ACDA3}"/>
              </a:ext>
            </a:extLst>
          </p:cNvPr>
          <p:cNvSpPr txBox="1"/>
          <p:nvPr/>
        </p:nvSpPr>
        <p:spPr>
          <a:xfrm>
            <a:off x="10346043" y="3317741"/>
            <a:ext cx="14285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25000"/>
                  </a:schemeClr>
                </a:solidFill>
              </a:rPr>
              <a:t>Total </a:t>
            </a:r>
            <a:r>
              <a:rPr lang="en-US" dirty="0" err="1">
                <a:solidFill>
                  <a:schemeClr val="tx2">
                    <a:lumMod val="25000"/>
                  </a:schemeClr>
                </a:solidFill>
              </a:rPr>
              <a:t>hrs</a:t>
            </a:r>
            <a:r>
              <a:rPr lang="en-US" dirty="0">
                <a:solidFill>
                  <a:schemeClr val="tx2">
                    <a:lumMod val="25000"/>
                  </a:schemeClr>
                </a:solidFill>
              </a:rPr>
              <a:t> = 6 hrs. </a:t>
            </a:r>
            <a:endParaRPr lang="en-IN" dirty="0">
              <a:solidFill>
                <a:schemeClr val="tx2">
                  <a:lumMod val="25000"/>
                </a:schemeClr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8BF61EB-09F1-A16A-3CF3-479F06ABDF6F}"/>
              </a:ext>
            </a:extLst>
          </p:cNvPr>
          <p:cNvSpPr txBox="1"/>
          <p:nvPr/>
        </p:nvSpPr>
        <p:spPr>
          <a:xfrm>
            <a:off x="10301777" y="5088359"/>
            <a:ext cx="13841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25000"/>
                  </a:schemeClr>
                </a:solidFill>
              </a:rPr>
              <a:t>Total </a:t>
            </a:r>
            <a:r>
              <a:rPr lang="en-US" dirty="0" err="1">
                <a:solidFill>
                  <a:schemeClr val="tx2">
                    <a:lumMod val="25000"/>
                  </a:schemeClr>
                </a:solidFill>
              </a:rPr>
              <a:t>hrs</a:t>
            </a:r>
            <a:r>
              <a:rPr lang="en-US" dirty="0">
                <a:solidFill>
                  <a:schemeClr val="tx2">
                    <a:lumMod val="25000"/>
                  </a:schemeClr>
                </a:solidFill>
              </a:rPr>
              <a:t> = 4 hrs.</a:t>
            </a:r>
            <a:endParaRPr lang="en-IN" dirty="0">
              <a:solidFill>
                <a:schemeClr val="tx2">
                  <a:lumMod val="25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BF899CD-86A6-8666-5D92-85C3E9246A0C}"/>
              </a:ext>
            </a:extLst>
          </p:cNvPr>
          <p:cNvSpPr txBox="1"/>
          <p:nvPr/>
        </p:nvSpPr>
        <p:spPr>
          <a:xfrm>
            <a:off x="3104844" y="1898416"/>
            <a:ext cx="246384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>
                    <a:lumMod val="25000"/>
                  </a:schemeClr>
                </a:solidFill>
              </a:rPr>
              <a:t>registration(1 </a:t>
            </a:r>
            <a:r>
              <a:rPr lang="en-US" sz="1600" dirty="0" err="1">
                <a:solidFill>
                  <a:schemeClr val="tx2">
                    <a:lumMod val="25000"/>
                  </a:schemeClr>
                </a:solidFill>
              </a:rPr>
              <a:t>hr</a:t>
            </a:r>
            <a:r>
              <a:rPr lang="en-US" sz="1600" dirty="0">
                <a:solidFill>
                  <a:schemeClr val="tx2">
                    <a:lumMod val="25000"/>
                  </a:schemeClr>
                </a:solidFill>
              </a:rPr>
              <a:t>)</a:t>
            </a:r>
          </a:p>
          <a:p>
            <a:r>
              <a:rPr lang="en-US" sz="1600" dirty="0">
                <a:solidFill>
                  <a:schemeClr val="tx2">
                    <a:lumMod val="25000"/>
                  </a:schemeClr>
                </a:solidFill>
              </a:rPr>
              <a:t>User log in (30 min)</a:t>
            </a:r>
          </a:p>
          <a:p>
            <a:r>
              <a:rPr lang="en-US" sz="1600" dirty="0">
                <a:solidFill>
                  <a:schemeClr val="tx2">
                    <a:lumMod val="25000"/>
                  </a:schemeClr>
                </a:solidFill>
              </a:rPr>
              <a:t>User log out (30 min)</a:t>
            </a:r>
          </a:p>
          <a:p>
            <a:r>
              <a:rPr lang="en-US" sz="1600" dirty="0">
                <a:solidFill>
                  <a:schemeClr val="tx2">
                    <a:lumMod val="25000"/>
                  </a:schemeClr>
                </a:solidFill>
              </a:rPr>
              <a:t>(Total = 2 </a:t>
            </a:r>
            <a:r>
              <a:rPr lang="en-US" sz="1600" dirty="0" err="1">
                <a:solidFill>
                  <a:schemeClr val="tx2">
                    <a:lumMod val="25000"/>
                  </a:schemeClr>
                </a:solidFill>
              </a:rPr>
              <a:t>hrs</a:t>
            </a:r>
            <a:r>
              <a:rPr lang="en-US" sz="1600" dirty="0">
                <a:solidFill>
                  <a:schemeClr val="tx2">
                    <a:lumMod val="25000"/>
                  </a:schemeClr>
                </a:solidFill>
              </a:rPr>
              <a:t>)</a:t>
            </a:r>
            <a:endParaRPr lang="en-IN" sz="1600" dirty="0">
              <a:solidFill>
                <a:schemeClr val="tx2">
                  <a:lumMod val="25000"/>
                </a:schemeClr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6ECD943-BD82-C12C-161C-F643656BDF4B}"/>
              </a:ext>
            </a:extLst>
          </p:cNvPr>
          <p:cNvSpPr txBox="1"/>
          <p:nvPr/>
        </p:nvSpPr>
        <p:spPr>
          <a:xfrm>
            <a:off x="5928822" y="2370033"/>
            <a:ext cx="1758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25000"/>
                  </a:schemeClr>
                </a:solidFill>
              </a:rPr>
              <a:t>(2 </a:t>
            </a:r>
            <a:r>
              <a:rPr lang="en-US" dirty="0" err="1">
                <a:solidFill>
                  <a:schemeClr val="tx2">
                    <a:lumMod val="25000"/>
                  </a:schemeClr>
                </a:solidFill>
              </a:rPr>
              <a:t>hrs</a:t>
            </a:r>
            <a:r>
              <a:rPr lang="en-US" dirty="0">
                <a:solidFill>
                  <a:schemeClr val="tx2">
                    <a:lumMod val="25000"/>
                  </a:schemeClr>
                </a:solidFill>
              </a:rPr>
              <a:t>)</a:t>
            </a:r>
            <a:endParaRPr lang="en-IN" dirty="0">
              <a:solidFill>
                <a:schemeClr val="tx2">
                  <a:lumMod val="25000"/>
                </a:schemeClr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B979CA7-A42A-0DB6-34F3-F7A0904F8444}"/>
              </a:ext>
            </a:extLst>
          </p:cNvPr>
          <p:cNvSpPr txBox="1"/>
          <p:nvPr/>
        </p:nvSpPr>
        <p:spPr>
          <a:xfrm>
            <a:off x="8336586" y="2044631"/>
            <a:ext cx="1703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25000"/>
                  </a:schemeClr>
                </a:solidFill>
              </a:rPr>
              <a:t>(2 </a:t>
            </a:r>
            <a:r>
              <a:rPr lang="en-US" dirty="0" err="1">
                <a:solidFill>
                  <a:schemeClr val="tx2">
                    <a:lumMod val="25000"/>
                  </a:schemeClr>
                </a:solidFill>
              </a:rPr>
              <a:t>hrs</a:t>
            </a:r>
            <a:r>
              <a:rPr lang="en-US" dirty="0">
                <a:solidFill>
                  <a:schemeClr val="tx2">
                    <a:lumMod val="25000"/>
                  </a:schemeClr>
                </a:solidFill>
              </a:rPr>
              <a:t>)</a:t>
            </a:r>
            <a:endParaRPr lang="en-IN" dirty="0">
              <a:solidFill>
                <a:schemeClr val="tx2">
                  <a:lumMod val="25000"/>
                </a:schemeClr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A32B9E8-2786-B57A-3AA6-51A9BBA40109}"/>
              </a:ext>
            </a:extLst>
          </p:cNvPr>
          <p:cNvSpPr txBox="1"/>
          <p:nvPr/>
        </p:nvSpPr>
        <p:spPr>
          <a:xfrm>
            <a:off x="3163644" y="3329149"/>
            <a:ext cx="224893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tx2">
                    <a:lumMod val="25000"/>
                  </a:schemeClr>
                </a:solidFill>
              </a:rPr>
              <a:t>Create = 20 min</a:t>
            </a:r>
          </a:p>
          <a:p>
            <a:r>
              <a:rPr lang="en-US" sz="1100" dirty="0">
                <a:solidFill>
                  <a:schemeClr val="tx2">
                    <a:lumMod val="25000"/>
                  </a:schemeClr>
                </a:solidFill>
              </a:rPr>
              <a:t>Delete = 15 min</a:t>
            </a:r>
          </a:p>
          <a:p>
            <a:r>
              <a:rPr lang="en-US" sz="1100" dirty="0">
                <a:solidFill>
                  <a:schemeClr val="tx2">
                    <a:lumMod val="25000"/>
                  </a:schemeClr>
                </a:solidFill>
              </a:rPr>
              <a:t>Edit = 10 min</a:t>
            </a:r>
          </a:p>
          <a:p>
            <a:r>
              <a:rPr lang="en-US" sz="1100" dirty="0">
                <a:solidFill>
                  <a:schemeClr val="tx2">
                    <a:lumMod val="25000"/>
                  </a:schemeClr>
                </a:solidFill>
              </a:rPr>
              <a:t>View = 15 min</a:t>
            </a:r>
          </a:p>
          <a:p>
            <a:r>
              <a:rPr lang="en-US" sz="1100" dirty="0">
                <a:solidFill>
                  <a:schemeClr val="tx2">
                    <a:lumMod val="25000"/>
                  </a:schemeClr>
                </a:solidFill>
              </a:rPr>
              <a:t>Schedule = 20 min</a:t>
            </a:r>
          </a:p>
          <a:p>
            <a:r>
              <a:rPr lang="en-US" sz="1100" dirty="0">
                <a:solidFill>
                  <a:schemeClr val="tx2">
                    <a:lumMod val="25000"/>
                  </a:schemeClr>
                </a:solidFill>
              </a:rPr>
              <a:t>Recurring = 30 min</a:t>
            </a:r>
          </a:p>
          <a:p>
            <a:r>
              <a:rPr lang="en-US" sz="1100" dirty="0">
                <a:solidFill>
                  <a:schemeClr val="tx2">
                    <a:lumMod val="25000"/>
                  </a:schemeClr>
                </a:solidFill>
              </a:rPr>
              <a:t>Voice Assistant = 1hr</a:t>
            </a:r>
          </a:p>
          <a:p>
            <a:r>
              <a:rPr lang="en-US" sz="1100" dirty="0">
                <a:solidFill>
                  <a:schemeClr val="tx2">
                    <a:lumMod val="25000"/>
                  </a:schemeClr>
                </a:solidFill>
              </a:rPr>
              <a:t>   (Total = 3 </a:t>
            </a:r>
            <a:r>
              <a:rPr lang="en-US" sz="1100" dirty="0" err="1">
                <a:solidFill>
                  <a:schemeClr val="tx2">
                    <a:lumMod val="25000"/>
                  </a:schemeClr>
                </a:solidFill>
              </a:rPr>
              <a:t>hrs</a:t>
            </a:r>
            <a:r>
              <a:rPr lang="en-US" sz="1100" dirty="0">
                <a:solidFill>
                  <a:schemeClr val="tx2">
                    <a:lumMod val="25000"/>
                  </a:schemeClr>
                </a:solidFill>
              </a:rPr>
              <a:t>)</a:t>
            </a:r>
            <a:endParaRPr lang="en-IN" sz="1100" dirty="0">
              <a:solidFill>
                <a:schemeClr val="tx2">
                  <a:lumMod val="25000"/>
                </a:schemeClr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1AED6CB-BA73-B47D-D407-11E337184033}"/>
              </a:ext>
            </a:extLst>
          </p:cNvPr>
          <p:cNvSpPr txBox="1"/>
          <p:nvPr/>
        </p:nvSpPr>
        <p:spPr>
          <a:xfrm>
            <a:off x="5918413" y="3938533"/>
            <a:ext cx="1581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25000"/>
                  </a:schemeClr>
                </a:solidFill>
              </a:rPr>
              <a:t>(1 </a:t>
            </a:r>
            <a:r>
              <a:rPr lang="en-US" dirty="0" err="1">
                <a:solidFill>
                  <a:schemeClr val="tx2">
                    <a:lumMod val="25000"/>
                  </a:schemeClr>
                </a:solidFill>
              </a:rPr>
              <a:t>hrs</a:t>
            </a:r>
            <a:r>
              <a:rPr lang="en-US" dirty="0">
                <a:solidFill>
                  <a:schemeClr val="tx2">
                    <a:lumMod val="25000"/>
                  </a:schemeClr>
                </a:solidFill>
              </a:rPr>
              <a:t>)</a:t>
            </a:r>
            <a:endParaRPr lang="en-IN" dirty="0">
              <a:solidFill>
                <a:schemeClr val="tx2">
                  <a:lumMod val="25000"/>
                </a:schemeClr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245FB53-52ED-E238-E482-F2AB3F45DD58}"/>
              </a:ext>
            </a:extLst>
          </p:cNvPr>
          <p:cNvSpPr txBox="1"/>
          <p:nvPr/>
        </p:nvSpPr>
        <p:spPr>
          <a:xfrm>
            <a:off x="8436474" y="3941629"/>
            <a:ext cx="1419285" cy="375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25000"/>
                  </a:schemeClr>
                </a:solidFill>
              </a:rPr>
              <a:t>(2 </a:t>
            </a:r>
            <a:r>
              <a:rPr lang="en-US" dirty="0" err="1">
                <a:solidFill>
                  <a:schemeClr val="tx2">
                    <a:lumMod val="25000"/>
                  </a:schemeClr>
                </a:solidFill>
              </a:rPr>
              <a:t>hrs</a:t>
            </a:r>
            <a:r>
              <a:rPr lang="en-US" dirty="0">
                <a:solidFill>
                  <a:schemeClr val="tx2">
                    <a:lumMod val="25000"/>
                  </a:schemeClr>
                </a:solidFill>
              </a:rPr>
              <a:t>)</a:t>
            </a:r>
            <a:endParaRPr lang="en-IN" dirty="0">
              <a:solidFill>
                <a:schemeClr val="tx2">
                  <a:lumMod val="25000"/>
                </a:schemeClr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192C7CB-C6B4-03D9-60E3-DC428CE8BDC9}"/>
              </a:ext>
            </a:extLst>
          </p:cNvPr>
          <p:cNvSpPr txBox="1"/>
          <p:nvPr/>
        </p:nvSpPr>
        <p:spPr>
          <a:xfrm>
            <a:off x="3547848" y="5786048"/>
            <a:ext cx="1834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25000"/>
                  </a:schemeClr>
                </a:solidFill>
              </a:rPr>
              <a:t>(2 </a:t>
            </a:r>
            <a:r>
              <a:rPr lang="en-US" dirty="0" err="1">
                <a:solidFill>
                  <a:schemeClr val="tx2">
                    <a:lumMod val="25000"/>
                  </a:schemeClr>
                </a:solidFill>
              </a:rPr>
              <a:t>hrs</a:t>
            </a:r>
            <a:r>
              <a:rPr lang="en-US" dirty="0">
                <a:solidFill>
                  <a:schemeClr val="tx2">
                    <a:lumMod val="25000"/>
                  </a:schemeClr>
                </a:solidFill>
              </a:rPr>
              <a:t>)</a:t>
            </a:r>
            <a:endParaRPr lang="en-IN" dirty="0">
              <a:solidFill>
                <a:schemeClr val="tx2">
                  <a:lumMod val="25000"/>
                </a:schemeClr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DBF2D87-BECD-112A-6D53-03482B5113EC}"/>
              </a:ext>
            </a:extLst>
          </p:cNvPr>
          <p:cNvSpPr txBox="1"/>
          <p:nvPr/>
        </p:nvSpPr>
        <p:spPr>
          <a:xfrm>
            <a:off x="5847169" y="5698376"/>
            <a:ext cx="1222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25000"/>
                  </a:schemeClr>
                </a:solidFill>
              </a:rPr>
              <a:t>(2 </a:t>
            </a:r>
            <a:r>
              <a:rPr lang="en-US" dirty="0" err="1">
                <a:solidFill>
                  <a:schemeClr val="tx2">
                    <a:lumMod val="25000"/>
                  </a:schemeClr>
                </a:solidFill>
              </a:rPr>
              <a:t>hrs</a:t>
            </a:r>
            <a:r>
              <a:rPr lang="en-US" dirty="0">
                <a:solidFill>
                  <a:schemeClr val="tx2">
                    <a:lumMod val="25000"/>
                  </a:schemeClr>
                </a:solidFill>
              </a:rPr>
              <a:t>)</a:t>
            </a:r>
            <a:endParaRPr lang="en-IN" dirty="0">
              <a:solidFill>
                <a:schemeClr val="tx2">
                  <a:lumMod val="25000"/>
                </a:schemeClr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E448885-DCB5-93D6-1E06-A5506CA6189C}"/>
              </a:ext>
            </a:extLst>
          </p:cNvPr>
          <p:cNvSpPr txBox="1"/>
          <p:nvPr/>
        </p:nvSpPr>
        <p:spPr>
          <a:xfrm>
            <a:off x="10301777" y="2111021"/>
            <a:ext cx="1788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25000"/>
                  </a:schemeClr>
                </a:solidFill>
              </a:rPr>
              <a:t>Remaining = 0</a:t>
            </a:r>
            <a:endParaRPr lang="en-IN" dirty="0">
              <a:solidFill>
                <a:schemeClr val="tx2">
                  <a:lumMod val="25000"/>
                </a:schemeClr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F3D37D8-0ACC-A8A9-940F-9D2EC316A9BE}"/>
              </a:ext>
            </a:extLst>
          </p:cNvPr>
          <p:cNvSpPr txBox="1"/>
          <p:nvPr/>
        </p:nvSpPr>
        <p:spPr>
          <a:xfrm flipH="1">
            <a:off x="10368201" y="3938533"/>
            <a:ext cx="1849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25000"/>
                  </a:schemeClr>
                </a:solidFill>
              </a:rPr>
              <a:t>Remaining = 0</a:t>
            </a:r>
            <a:endParaRPr lang="en-IN" dirty="0">
              <a:solidFill>
                <a:schemeClr val="tx2">
                  <a:lumMod val="25000"/>
                </a:schemeClr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A3F05DC-BD3C-A771-468C-FAE13AAA53CB}"/>
              </a:ext>
            </a:extLst>
          </p:cNvPr>
          <p:cNvSpPr txBox="1"/>
          <p:nvPr/>
        </p:nvSpPr>
        <p:spPr>
          <a:xfrm>
            <a:off x="10318621" y="5709206"/>
            <a:ext cx="19484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25000"/>
                  </a:schemeClr>
                </a:solidFill>
              </a:rPr>
              <a:t>Remaining = 2 hrs.</a:t>
            </a:r>
            <a:endParaRPr lang="en-IN" dirty="0">
              <a:solidFill>
                <a:schemeClr val="tx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09336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8F499-6D48-519A-E50A-DE081591F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14B84BF-3B03-2FC9-1E31-4E9029CE75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95236" y="2"/>
            <a:ext cx="8972763" cy="1706330"/>
          </a:xfrm>
        </p:spPr>
        <p:txBody>
          <a:bodyPr>
            <a:normAutofit/>
          </a:bodyPr>
          <a:lstStyle/>
          <a:p>
            <a:pPr marL="571500" indent="-571500" algn="l">
              <a:buFont typeface="Wingdings" panose="05000000000000000000" pitchFamily="2" charset="2"/>
              <a:buChar char="v"/>
            </a:pPr>
            <a:r>
              <a:rPr lang="en-IN" sz="4000" b="0" dirty="0">
                <a:effectLst/>
              </a:rPr>
              <a:t>ROLES AND WORKING HOUR </a:t>
            </a:r>
            <a:br>
              <a:rPr lang="en-IN" sz="2400" b="0" dirty="0">
                <a:effectLst/>
              </a:rPr>
            </a:br>
            <a:r>
              <a:rPr lang="en-IN" sz="2400" b="0" dirty="0">
                <a:effectLst/>
              </a:rPr>
              <a:t>Testers</a:t>
            </a:r>
            <a:br>
              <a:rPr lang="en-IN" dirty="0">
                <a:effectLst/>
              </a:rPr>
            </a:br>
            <a:endParaRPr lang="en-IN" sz="40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3698C773-ED97-673C-4F1A-332E6953DE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1259" y="1237598"/>
            <a:ext cx="11260476" cy="5528370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                                 </a:t>
            </a:r>
            <a:endParaRPr lang="en-IN" sz="24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F53588-D348-82D5-E186-153C00D03367}"/>
              </a:ext>
            </a:extLst>
          </p:cNvPr>
          <p:cNvSpPr/>
          <p:nvPr/>
        </p:nvSpPr>
        <p:spPr>
          <a:xfrm>
            <a:off x="2970571" y="4145311"/>
            <a:ext cx="2352782" cy="156460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EC40E8-6DE2-9911-782A-AB50DE368A82}"/>
              </a:ext>
            </a:extLst>
          </p:cNvPr>
          <p:cNvSpPr/>
          <p:nvPr/>
        </p:nvSpPr>
        <p:spPr>
          <a:xfrm>
            <a:off x="2933951" y="1796596"/>
            <a:ext cx="2352782" cy="153085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82C485-A533-EB75-894D-F0CCA40E1296}"/>
              </a:ext>
            </a:extLst>
          </p:cNvPr>
          <p:cNvSpPr/>
          <p:nvPr/>
        </p:nvSpPr>
        <p:spPr>
          <a:xfrm>
            <a:off x="5428989" y="1816516"/>
            <a:ext cx="2352782" cy="153085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A1FEAF-0936-7726-69D7-DF15DE8685FA}"/>
              </a:ext>
            </a:extLst>
          </p:cNvPr>
          <p:cNvSpPr/>
          <p:nvPr/>
        </p:nvSpPr>
        <p:spPr>
          <a:xfrm>
            <a:off x="7887407" y="1796596"/>
            <a:ext cx="2352782" cy="153085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5DCDD91-018E-5001-1A2E-853E636AFAC9}"/>
              </a:ext>
            </a:extLst>
          </p:cNvPr>
          <p:cNvSpPr/>
          <p:nvPr/>
        </p:nvSpPr>
        <p:spPr>
          <a:xfrm>
            <a:off x="131073" y="1623589"/>
            <a:ext cx="2352781" cy="1767155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7C65A668-0783-A54E-9838-32B9F3561242}"/>
              </a:ext>
            </a:extLst>
          </p:cNvPr>
          <p:cNvSpPr/>
          <p:nvPr/>
        </p:nvSpPr>
        <p:spPr>
          <a:xfrm>
            <a:off x="2486334" y="2257940"/>
            <a:ext cx="447617" cy="484632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64DA94-B2D1-EA5A-95AC-B19DF4FBC2E3}"/>
              </a:ext>
            </a:extLst>
          </p:cNvPr>
          <p:cNvSpPr/>
          <p:nvPr/>
        </p:nvSpPr>
        <p:spPr>
          <a:xfrm>
            <a:off x="5399645" y="4162187"/>
            <a:ext cx="2352782" cy="153085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8052C66-10F3-B155-A847-625354FABD55}"/>
              </a:ext>
            </a:extLst>
          </p:cNvPr>
          <p:cNvSpPr/>
          <p:nvPr/>
        </p:nvSpPr>
        <p:spPr>
          <a:xfrm>
            <a:off x="131073" y="4051857"/>
            <a:ext cx="2352781" cy="1767155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0EEDF2-4C53-5887-7869-D4EBC6FADCF8}"/>
              </a:ext>
            </a:extLst>
          </p:cNvPr>
          <p:cNvSpPr/>
          <p:nvPr/>
        </p:nvSpPr>
        <p:spPr>
          <a:xfrm>
            <a:off x="7869181" y="4162187"/>
            <a:ext cx="2352782" cy="153085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03D6068D-A228-CBEA-56BE-E8BDAA7B7D83}"/>
              </a:ext>
            </a:extLst>
          </p:cNvPr>
          <p:cNvSpPr/>
          <p:nvPr/>
        </p:nvSpPr>
        <p:spPr>
          <a:xfrm>
            <a:off x="2483854" y="4685296"/>
            <a:ext cx="480343" cy="484632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3C8DE34-4E41-F3F6-FAEC-E79B89CC3DD8}"/>
              </a:ext>
            </a:extLst>
          </p:cNvPr>
          <p:cNvSpPr txBox="1"/>
          <p:nvPr/>
        </p:nvSpPr>
        <p:spPr>
          <a:xfrm>
            <a:off x="420615" y="2233324"/>
            <a:ext cx="2132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Aarti </a:t>
            </a:r>
            <a:r>
              <a:rPr lang="en-US" sz="2400" dirty="0" err="1"/>
              <a:t>Mirge</a:t>
            </a:r>
            <a:endParaRPr lang="en-IN" sz="2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045D8A5-0372-5BDB-8C42-841AAEA3CC22}"/>
              </a:ext>
            </a:extLst>
          </p:cNvPr>
          <p:cNvSpPr txBox="1"/>
          <p:nvPr/>
        </p:nvSpPr>
        <p:spPr>
          <a:xfrm>
            <a:off x="441259" y="4628340"/>
            <a:ext cx="19829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Mansi Bari</a:t>
            </a:r>
            <a:endParaRPr lang="en-IN" sz="24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3AA767B-1E96-5082-B357-A7F4F48B7EF8}"/>
              </a:ext>
            </a:extLst>
          </p:cNvPr>
          <p:cNvSpPr/>
          <p:nvPr/>
        </p:nvSpPr>
        <p:spPr>
          <a:xfrm>
            <a:off x="10309372" y="1780738"/>
            <a:ext cx="1819303" cy="153085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764E310-9F99-E914-B42D-6B72D96DB65D}"/>
              </a:ext>
            </a:extLst>
          </p:cNvPr>
          <p:cNvSpPr/>
          <p:nvPr/>
        </p:nvSpPr>
        <p:spPr>
          <a:xfrm>
            <a:off x="10309372" y="4145311"/>
            <a:ext cx="1819303" cy="153085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1CBD6E-DEAC-1BC6-0ACD-192C49D2D593}"/>
              </a:ext>
            </a:extLst>
          </p:cNvPr>
          <p:cNvSpPr txBox="1"/>
          <p:nvPr/>
        </p:nvSpPr>
        <p:spPr>
          <a:xfrm>
            <a:off x="2933951" y="1828247"/>
            <a:ext cx="262634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tx2">
                    <a:lumMod val="25000"/>
                  </a:schemeClr>
                </a:solidFill>
              </a:rPr>
              <a:t>1.User Account Management</a:t>
            </a:r>
          </a:p>
          <a:p>
            <a:endParaRPr lang="en-IN" sz="1600" dirty="0">
              <a:solidFill>
                <a:schemeClr val="tx2">
                  <a:lumMod val="25000"/>
                </a:schemeClr>
              </a:solidFill>
            </a:endParaRPr>
          </a:p>
          <a:p>
            <a:r>
              <a:rPr lang="en-IN" sz="1600" dirty="0">
                <a:solidFill>
                  <a:schemeClr val="tx2">
                    <a:lumMod val="25000"/>
                  </a:schemeClr>
                </a:solidFill>
              </a:rPr>
              <a:t>            (1 hr)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268B06-825F-581C-7D16-75B4E88E30FF}"/>
              </a:ext>
            </a:extLst>
          </p:cNvPr>
          <p:cNvSpPr txBox="1"/>
          <p:nvPr/>
        </p:nvSpPr>
        <p:spPr>
          <a:xfrm>
            <a:off x="5516328" y="1811598"/>
            <a:ext cx="19001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 </a:t>
            </a:r>
            <a:r>
              <a:rPr lang="en-IN" dirty="0">
                <a:solidFill>
                  <a:schemeClr val="tx2">
                    <a:lumMod val="25000"/>
                  </a:schemeClr>
                </a:solidFill>
              </a:rPr>
              <a:t>2. Task Management, Task Scheduling</a:t>
            </a:r>
          </a:p>
          <a:p>
            <a:r>
              <a:rPr lang="en-IN" dirty="0">
                <a:solidFill>
                  <a:schemeClr val="tx2">
                    <a:lumMod val="25000"/>
                  </a:schemeClr>
                </a:solidFill>
              </a:rPr>
              <a:t>         (1 hr)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BA926FC-E610-F09A-0EFA-4BC079937598}"/>
              </a:ext>
            </a:extLst>
          </p:cNvPr>
          <p:cNvSpPr txBox="1"/>
          <p:nvPr/>
        </p:nvSpPr>
        <p:spPr>
          <a:xfrm>
            <a:off x="8116584" y="1828247"/>
            <a:ext cx="17658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tx2">
                    <a:lumMod val="25000"/>
                  </a:schemeClr>
                </a:solidFill>
              </a:rPr>
              <a:t>3. Automatic Task Execution</a:t>
            </a:r>
          </a:p>
          <a:p>
            <a:endParaRPr lang="en-IN" dirty="0">
              <a:solidFill>
                <a:schemeClr val="tx2">
                  <a:lumMod val="25000"/>
                </a:schemeClr>
              </a:solidFill>
            </a:endParaRPr>
          </a:p>
          <a:p>
            <a:r>
              <a:rPr lang="en-IN" dirty="0">
                <a:solidFill>
                  <a:schemeClr val="tx2">
                    <a:lumMod val="25000"/>
                  </a:schemeClr>
                </a:solidFill>
              </a:rPr>
              <a:t>     (1 hr)</a:t>
            </a:r>
          </a:p>
          <a:p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896E321-9413-889D-0726-9FDFDE752C93}"/>
              </a:ext>
            </a:extLst>
          </p:cNvPr>
          <p:cNvSpPr txBox="1"/>
          <p:nvPr/>
        </p:nvSpPr>
        <p:spPr>
          <a:xfrm>
            <a:off x="3080951" y="4228316"/>
            <a:ext cx="19474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  <a:r>
              <a:rPr lang="en-IN" dirty="0">
                <a:solidFill>
                  <a:schemeClr val="tx2">
                    <a:lumMod val="25000"/>
                  </a:schemeClr>
                </a:solidFill>
              </a:rPr>
              <a:t>1. Voice Assistant</a:t>
            </a:r>
          </a:p>
          <a:p>
            <a:endParaRPr lang="en-IN" dirty="0">
              <a:solidFill>
                <a:schemeClr val="tx2">
                  <a:lumMod val="25000"/>
                </a:schemeClr>
              </a:solidFill>
            </a:endParaRPr>
          </a:p>
          <a:p>
            <a:r>
              <a:rPr lang="en-IN" dirty="0">
                <a:solidFill>
                  <a:schemeClr val="tx2">
                    <a:lumMod val="25000"/>
                  </a:schemeClr>
                </a:solidFill>
              </a:rPr>
              <a:t>        ( ½ hr)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F2FA6A-34FF-B8A5-BBD1-A1F9B8DBE155}"/>
              </a:ext>
            </a:extLst>
          </p:cNvPr>
          <p:cNvSpPr txBox="1"/>
          <p:nvPr/>
        </p:nvSpPr>
        <p:spPr>
          <a:xfrm>
            <a:off x="5556434" y="4166781"/>
            <a:ext cx="18199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 </a:t>
            </a:r>
            <a:r>
              <a:rPr lang="en-IN" dirty="0">
                <a:solidFill>
                  <a:schemeClr val="tx2">
                    <a:lumMod val="25000"/>
                  </a:schemeClr>
                </a:solidFill>
              </a:rPr>
              <a:t>2. Email Notification</a:t>
            </a:r>
          </a:p>
          <a:p>
            <a:endParaRPr lang="en-IN" dirty="0">
              <a:solidFill>
                <a:schemeClr val="tx2">
                  <a:lumMod val="25000"/>
                </a:schemeClr>
              </a:solidFill>
            </a:endParaRPr>
          </a:p>
          <a:p>
            <a:r>
              <a:rPr lang="en-IN" dirty="0">
                <a:solidFill>
                  <a:schemeClr val="tx2">
                    <a:lumMod val="25000"/>
                  </a:schemeClr>
                </a:solidFill>
              </a:rPr>
              <a:t>       ( ½ hr)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EA254AE-8271-90BF-BCF0-7E28F5B11972}"/>
              </a:ext>
            </a:extLst>
          </p:cNvPr>
          <p:cNvSpPr txBox="1"/>
          <p:nvPr/>
        </p:nvSpPr>
        <p:spPr>
          <a:xfrm>
            <a:off x="8010948" y="4228317"/>
            <a:ext cx="18714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 </a:t>
            </a:r>
            <a:r>
              <a:rPr lang="en-IN" dirty="0">
                <a:solidFill>
                  <a:schemeClr val="tx2">
                    <a:lumMod val="25000"/>
                  </a:schemeClr>
                </a:solidFill>
              </a:rPr>
              <a:t>3. Dashboard, Report </a:t>
            </a:r>
          </a:p>
          <a:p>
            <a:endParaRPr lang="en-IN" dirty="0">
              <a:solidFill>
                <a:schemeClr val="tx2">
                  <a:lumMod val="25000"/>
                </a:schemeClr>
              </a:solidFill>
            </a:endParaRPr>
          </a:p>
          <a:p>
            <a:r>
              <a:rPr lang="en-IN" dirty="0">
                <a:solidFill>
                  <a:schemeClr val="tx2">
                    <a:lumMod val="25000"/>
                  </a:schemeClr>
                </a:solidFill>
              </a:rPr>
              <a:t>      ( 1 hr 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F1354EE-29D8-4DBD-E3B3-58C02AB30C50}"/>
              </a:ext>
            </a:extLst>
          </p:cNvPr>
          <p:cNvSpPr txBox="1"/>
          <p:nvPr/>
        </p:nvSpPr>
        <p:spPr>
          <a:xfrm>
            <a:off x="10449944" y="1961856"/>
            <a:ext cx="16284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25000"/>
                  </a:schemeClr>
                </a:solidFill>
              </a:rPr>
              <a:t>Total = 3 hrs.</a:t>
            </a:r>
          </a:p>
          <a:p>
            <a:endParaRPr lang="en-US" dirty="0">
              <a:solidFill>
                <a:schemeClr val="tx2">
                  <a:lumMod val="25000"/>
                </a:schemeClr>
              </a:solidFill>
            </a:endParaRPr>
          </a:p>
          <a:p>
            <a:r>
              <a:rPr lang="en-US" dirty="0">
                <a:solidFill>
                  <a:schemeClr val="tx2">
                    <a:lumMod val="25000"/>
                  </a:schemeClr>
                </a:solidFill>
              </a:rPr>
              <a:t>Remaining =0</a:t>
            </a:r>
            <a:endParaRPr lang="en-IN" dirty="0">
              <a:solidFill>
                <a:schemeClr val="tx2">
                  <a:lumMod val="2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01A8491-397F-C306-7388-83B9B7F253A6}"/>
              </a:ext>
            </a:extLst>
          </p:cNvPr>
          <p:cNvSpPr txBox="1"/>
          <p:nvPr/>
        </p:nvSpPr>
        <p:spPr>
          <a:xfrm>
            <a:off x="10449944" y="4300841"/>
            <a:ext cx="15619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25000"/>
                  </a:schemeClr>
                </a:solidFill>
              </a:rPr>
              <a:t>Total = 3 hrs.</a:t>
            </a:r>
          </a:p>
          <a:p>
            <a:endParaRPr lang="en-US" dirty="0">
              <a:solidFill>
                <a:schemeClr val="tx2">
                  <a:lumMod val="25000"/>
                </a:schemeClr>
              </a:solidFill>
            </a:endParaRPr>
          </a:p>
          <a:p>
            <a:r>
              <a:rPr lang="en-US" dirty="0">
                <a:solidFill>
                  <a:schemeClr val="tx2">
                    <a:lumMod val="25000"/>
                  </a:schemeClr>
                </a:solidFill>
              </a:rPr>
              <a:t>Remaining =0</a:t>
            </a:r>
            <a:endParaRPr lang="en-IN" dirty="0">
              <a:solidFill>
                <a:schemeClr val="tx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2379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6CB1751-A82D-EA4F-1407-45FB17E13A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1441852"/>
            <a:ext cx="9001462" cy="2387600"/>
          </a:xfrm>
        </p:spPr>
        <p:txBody>
          <a:bodyPr>
            <a:normAutofit/>
          </a:bodyPr>
          <a:lstStyle/>
          <a:p>
            <a:r>
              <a:rPr lang="en-US" sz="2800" b="0" dirty="0">
                <a:latin typeface="Bahnschrift SemiLight" panose="020B0502040204020203" pitchFamily="34" charset="0"/>
              </a:rPr>
              <a:t>Thank you</a:t>
            </a:r>
            <a:endParaRPr lang="en-IN" sz="2800" b="0" dirty="0">
              <a:latin typeface="Bahnschrift Semi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06156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329</TotalTime>
  <Words>757</Words>
  <Application>Microsoft Office PowerPoint</Application>
  <PresentationFormat>Widescreen</PresentationFormat>
  <Paragraphs>151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Bahnschrift SemiLight</vt:lpstr>
      <vt:lpstr>Bookman Old Style</vt:lpstr>
      <vt:lpstr>Calibri</vt:lpstr>
      <vt:lpstr>Rockwell</vt:lpstr>
      <vt:lpstr>Wingdings</vt:lpstr>
      <vt:lpstr>Damask</vt:lpstr>
      <vt:lpstr>Project Name: Automatic task schedular  team - Avengers</vt:lpstr>
      <vt:lpstr>PowerPoint Presentation</vt:lpstr>
      <vt:lpstr>Project objective</vt:lpstr>
      <vt:lpstr>User requirements</vt:lpstr>
      <vt:lpstr>1.User account management</vt:lpstr>
      <vt:lpstr>2. Task management</vt:lpstr>
      <vt:lpstr>3.Task Scheduling</vt:lpstr>
      <vt:lpstr>4. Automatic Task Execution</vt:lpstr>
      <vt:lpstr>5. Voice Assistant </vt:lpstr>
      <vt:lpstr> 6. Email Notification </vt:lpstr>
      <vt:lpstr>7. Dashboard  </vt:lpstr>
      <vt:lpstr>8. Reports &amp; History  </vt:lpstr>
      <vt:lpstr>EX - Cab Remainder Management  </vt:lpstr>
      <vt:lpstr>ROLES AND WORKING HOUR DEVELOPERs -  </vt:lpstr>
      <vt:lpstr>ROLES AND WORKING HOUR  Testers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Divya Patil</dc:creator>
  <cp:lastModifiedBy>Divya Patil</cp:lastModifiedBy>
  <cp:revision>5</cp:revision>
  <dcterms:created xsi:type="dcterms:W3CDTF">2026-07-01T13:36:26Z</dcterms:created>
  <dcterms:modified xsi:type="dcterms:W3CDTF">2026-07-03T04:11:23Z</dcterms:modified>
</cp:coreProperties>
</file>