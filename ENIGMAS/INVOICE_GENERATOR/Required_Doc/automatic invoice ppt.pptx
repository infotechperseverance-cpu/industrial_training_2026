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1" r:id="rId14"/>
    <p:sldId id="272" r:id="rId15"/>
    <p:sldId id="273" r:id="rId16"/>
    <p:sldId id="260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0BC1B-6CCA-4432-9DE2-91F55AFBD6FC}" v="1" dt="2026-07-12T23:07:43.9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itali patil" userId="93c03ccf1d40b7ec" providerId="LiveId" clId="{12F2214F-EB89-498D-9B46-BFD7F3C920F7}"/>
    <pc:docChg chg="custSel addSld modSld">
      <pc:chgData name="chaitali patil" userId="93c03ccf1d40b7ec" providerId="LiveId" clId="{12F2214F-EB89-498D-9B46-BFD7F3C920F7}" dt="2026-07-13T00:22:00.279" v="614" actId="20577"/>
      <pc:docMkLst>
        <pc:docMk/>
      </pc:docMkLst>
      <pc:sldChg chg="modSp mod">
        <pc:chgData name="chaitali patil" userId="93c03ccf1d40b7ec" providerId="LiveId" clId="{12F2214F-EB89-498D-9B46-BFD7F3C920F7}" dt="2026-07-13T00:22:00.279" v="614" actId="20577"/>
        <pc:sldMkLst>
          <pc:docMk/>
          <pc:sldMk cId="1134574598" sldId="256"/>
        </pc:sldMkLst>
        <pc:spChg chg="mod">
          <ac:chgData name="chaitali patil" userId="93c03ccf1d40b7ec" providerId="LiveId" clId="{12F2214F-EB89-498D-9B46-BFD7F3C920F7}" dt="2026-07-13T00:22:00.279" v="614" actId="20577"/>
          <ac:spMkLst>
            <pc:docMk/>
            <pc:sldMk cId="1134574598" sldId="256"/>
            <ac:spMk id="3" creationId="{BCAA14C4-E550-FDB7-7383-4DACEA075776}"/>
          </ac:spMkLst>
        </pc:spChg>
      </pc:sldChg>
      <pc:sldChg chg="modSp mod">
        <pc:chgData name="chaitali patil" userId="93c03ccf1d40b7ec" providerId="LiveId" clId="{12F2214F-EB89-498D-9B46-BFD7F3C920F7}" dt="2026-07-12T22:49:27.631" v="235" actId="20577"/>
        <pc:sldMkLst>
          <pc:docMk/>
          <pc:sldMk cId="1610684589" sldId="260"/>
        </pc:sldMkLst>
        <pc:graphicFrameChg chg="modGraphic">
          <ac:chgData name="chaitali patil" userId="93c03ccf1d40b7ec" providerId="LiveId" clId="{12F2214F-EB89-498D-9B46-BFD7F3C920F7}" dt="2026-07-12T22:49:27.631" v="235" actId="20577"/>
          <ac:graphicFrameMkLst>
            <pc:docMk/>
            <pc:sldMk cId="1610684589" sldId="260"/>
            <ac:graphicFrameMk id="7" creationId="{07BEEA4C-C4FB-228C-BBAA-BDDC55625C74}"/>
          </ac:graphicFrameMkLst>
        </pc:graphicFrameChg>
      </pc:sldChg>
      <pc:sldChg chg="addSp modSp new mod">
        <pc:chgData name="chaitali patil" userId="93c03ccf1d40b7ec" providerId="LiveId" clId="{12F2214F-EB89-498D-9B46-BFD7F3C920F7}" dt="2026-07-12T23:09:13.708" v="581" actId="14100"/>
        <pc:sldMkLst>
          <pc:docMk/>
          <pc:sldMk cId="2297239741" sldId="274"/>
        </pc:sldMkLst>
        <pc:spChg chg="add mod">
          <ac:chgData name="chaitali patil" userId="93c03ccf1d40b7ec" providerId="LiveId" clId="{12F2214F-EB89-498D-9B46-BFD7F3C920F7}" dt="2026-07-12T23:02:19.932" v="306" actId="1076"/>
          <ac:spMkLst>
            <pc:docMk/>
            <pc:sldMk cId="2297239741" sldId="274"/>
            <ac:spMk id="4" creationId="{8D53E0DD-FFFB-05F4-041D-322DC259CF94}"/>
          </ac:spMkLst>
        </pc:spChg>
        <pc:graphicFrameChg chg="add mod modGraphic">
          <ac:chgData name="chaitali patil" userId="93c03ccf1d40b7ec" providerId="LiveId" clId="{12F2214F-EB89-498D-9B46-BFD7F3C920F7}" dt="2026-07-12T23:09:13.708" v="581" actId="14100"/>
          <ac:graphicFrameMkLst>
            <pc:docMk/>
            <pc:sldMk cId="2297239741" sldId="274"/>
            <ac:graphicFrameMk id="2" creationId="{B8D7440B-E4E3-FB51-3328-6726B83C9288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29BAD-1AFB-3329-CCDE-7A43A2EDD4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929DE-9D31-4830-E488-4B2132D91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810ED-D1ED-C640-BFD5-0EFEC7C08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C53D2-9BC1-CEB4-C6B1-9CD5F9CA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3D654-0032-652F-8DB7-D60C16716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528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A989D-3B72-54A7-1706-8AB42C46A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D2F49-6D06-2DCA-8441-595D257C5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B5CDA-BFA6-07C9-B826-7654DA285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91E75-D084-2277-ECD2-5797B3F76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E92BB-F0E6-4371-A670-31D94088A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557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8ABA1-09BA-36C3-FB17-6836EEF16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9DA08-5FD1-87CA-1A42-2500661E7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9D5FF-0E9F-64F9-F593-1A207F958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E6FC7-9539-CFBA-F94E-37C9672D4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5C4D3-EC21-EC75-689D-FC8C4BAB6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435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B6A01-FA08-FFB8-8F25-49FE215EA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542B8-F818-A09C-D4DC-2766FB045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E5D19-6F9F-505B-94E6-6DC91901A7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C2A7D-79C8-28A3-2D3F-FD264B357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803795-5D12-3FC7-42E8-A74D1A36E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D5777-1167-C317-3E71-74898DFC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102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CA7C-8E10-84E1-0CE8-FF5DA324B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AF1B3-E0DE-4252-E2F2-3264C7C11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FDED6-1FA4-B8F1-4B40-67105F3CC9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46F604-EB91-6618-B9DB-948759BB9A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91ED96-2D75-A97A-87D4-A3D38141A5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3E4F4-1EFD-3B8A-1E3E-09750DEB5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3C50BE-AB6A-16B6-F16C-A4636AB2A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399B67-C037-C110-AD76-1641A37BA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30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9045F-0DE2-2959-C3A0-87E84481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DB1C59-00A0-B265-46C0-50B1E27A9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DED22-1E7E-B000-A440-FCAF974E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3B194D-1C68-02D4-260E-E2841F2A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31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64652E-D1FE-5D40-1BE8-46E9C7E1C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1BFCAE-73B0-81D5-88A3-CCD04A625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5EB71-CA45-B5FF-041F-596A280D9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26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BB81E-C152-F4B8-C52B-0CC877543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003D5-8C75-20A5-3049-69F8DA479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E5F54-BF60-CED0-EBE2-49A90C7313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C5E046-C855-D542-DC20-1E8ED30BE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81EC2C-EA87-6B45-3B8F-72E256D38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9365E-55F1-C637-1DB1-5652703D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69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71AA-DD98-659E-5967-B8287550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2D1E1B-3BE0-A626-7BD7-3535B156FB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62C2F5-A8B8-1C89-27C7-708594D85C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39BCA-B534-D649-F9A0-08DF21E3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0FFC8-5475-638F-6214-39E5F7B7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461E74-57A2-774C-6B04-D5C53A1E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219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14619-AA41-9AE9-475C-DE1C71624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8D808-1A3C-7C20-1922-46381A026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21ECF-564A-1AC6-5D8F-15105AA02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69BE5-865F-DC2B-45E8-6A449A2C7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8B7A4-B363-B097-7F90-610AFFD15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988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A85BBE-CED4-26DE-C5B0-072DED2EE2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7E273-0BB0-E90A-A332-974B802512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A9AE9-0221-B66B-943E-BC8FDAB78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DBCE6-6C80-B2C2-3121-F814F2F2F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E4710-B860-4C10-0B85-34456811C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463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50705B-FCE6-366B-B8C1-5947D53F0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B4FA3-9A9D-71D8-737C-679C181D4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F5CA6-3577-A01F-C3F1-FDD86827C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FD183-B579-442F-AEDC-576E97AC8F49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FC056-CFEF-2DFD-CBFF-201058F42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52FF7-8277-FDC0-E5E0-BE32A4730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6632F-E06F-4296-A04A-7D6850DF9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47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61837-A365-DA25-219A-FF0D2E53D8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Topic Name :-Automatic Invoice Generator.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A14C4-E550-FDB7-7383-4DACEA0757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z="3200" dirty="0"/>
              <a:t>Team name </a:t>
            </a:r>
            <a:r>
              <a:rPr lang="en-IN" sz="3200"/>
              <a:t>:- Enigmas</a:t>
            </a:r>
            <a:r>
              <a:rPr lang="en-IN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574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F40B-935A-0741-FC4A-6980FCDD7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6FDE0-DF62-9714-3715-2698BEA8E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Roles:-</a:t>
            </a:r>
            <a:endParaRPr lang="en-IN" sz="540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B2092C1-6C97-5D76-936F-77DA06CEB1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0327639"/>
              </p:ext>
            </p:extLst>
          </p:nvPr>
        </p:nvGraphicFramePr>
        <p:xfrm>
          <a:off x="64168" y="1036805"/>
          <a:ext cx="12005510" cy="645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8261">
                  <a:extLst>
                    <a:ext uri="{9D8B030D-6E8A-4147-A177-3AD203B41FA5}">
                      <a16:colId xmlns:a16="http://schemas.microsoft.com/office/drawing/2014/main" val="3456849416"/>
                    </a:ext>
                  </a:extLst>
                </a:gridCol>
                <a:gridCol w="5897249">
                  <a:extLst>
                    <a:ext uri="{9D8B030D-6E8A-4147-A177-3AD203B41FA5}">
                      <a16:colId xmlns:a16="http://schemas.microsoft.com/office/drawing/2014/main" val="48763597"/>
                    </a:ext>
                  </a:extLst>
                </a:gridCol>
              </a:tblGrid>
              <a:tr h="922073">
                <a:tc>
                  <a:txBody>
                    <a:bodyPr/>
                    <a:lstStyle/>
                    <a:p>
                      <a:r>
                        <a:rPr lang="en-US" sz="3600" dirty="0"/>
                        <a:t>             Name</a:t>
                      </a:r>
                      <a:endParaRPr lang="en-IN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                       Roles</a:t>
                      </a:r>
                      <a:endParaRPr lang="en-IN" sz="3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8479222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US" sz="3200" dirty="0"/>
                        <a:t>Chaitali Nandlal Patil</a:t>
                      </a:r>
                      <a:endParaRPr lang="en-IN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Planner &amp; Scrum master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819947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IN" sz="2800" dirty="0" err="1"/>
                        <a:t>Prashik</a:t>
                      </a:r>
                      <a:r>
                        <a:rPr lang="en-IN" sz="2800" dirty="0"/>
                        <a:t> Rajaram </a:t>
                      </a:r>
                      <a:r>
                        <a:rPr lang="en-IN" sz="2800" dirty="0" err="1"/>
                        <a:t>Dabhade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046619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IN" sz="2800" dirty="0"/>
                        <a:t>Dhanraj Shankar </a:t>
                      </a:r>
                      <a:r>
                        <a:rPr lang="en-IN" sz="2800" dirty="0" err="1"/>
                        <a:t>Jawale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2887034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IN" sz="2800" dirty="0"/>
                        <a:t>Dimpal Surendra Rajput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Developer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484030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IN" sz="2800" dirty="0"/>
                        <a:t>Dhanshri Ravindra Salunkhe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QA (Tester)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824599"/>
                  </a:ext>
                </a:extLst>
              </a:tr>
              <a:tr h="922073">
                <a:tc>
                  <a:txBody>
                    <a:bodyPr/>
                    <a:lstStyle/>
                    <a:p>
                      <a:r>
                        <a:rPr lang="en-IN" sz="2800" dirty="0"/>
                        <a:t>Harshwardhan Pandurang Patil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QA (Tester)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0204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57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1C341-16E4-2177-4A90-412293BA8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BA9BC-21C0-431E-F446-93FBEE463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P</a:t>
            </a:r>
            <a:r>
              <a:rPr lang="en-IN" sz="5400" dirty="0" err="1"/>
              <a:t>roject</a:t>
            </a:r>
            <a:r>
              <a:rPr lang="en-IN" sz="5400" dirty="0"/>
              <a:t> Objectives:-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D7265D-AFBE-B0A5-D284-B825204B1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189" y="1690688"/>
            <a:ext cx="10515600" cy="5046995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Generate invoices automatically and reduce manual work.</a:t>
            </a:r>
          </a:p>
          <a:p>
            <a:pPr lvl="0"/>
            <a:r>
              <a:rPr lang="en-IN" dirty="0"/>
              <a:t>Store customer, product, and invoice details permanently using SQLite.</a:t>
            </a:r>
          </a:p>
          <a:p>
            <a:pPr lvl="0"/>
            <a:r>
              <a:rPr lang="en-IN" dirty="0"/>
              <a:t>Calculate GST based on product category.</a:t>
            </a:r>
          </a:p>
          <a:p>
            <a:pPr lvl="0"/>
            <a:r>
              <a:rPr lang="en-IN" dirty="0"/>
              <a:t>Apply discounts and generate the final bill correctly.</a:t>
            </a:r>
          </a:p>
          <a:p>
            <a:pPr lvl="0"/>
            <a:r>
              <a:rPr lang="en-IN" dirty="0"/>
              <a:t>Generate PDF invoices.</a:t>
            </a:r>
          </a:p>
          <a:p>
            <a:pPr lvl="0"/>
            <a:r>
              <a:rPr lang="en-IN" dirty="0"/>
              <a:t>Send invoices to customers through email.</a:t>
            </a:r>
          </a:p>
          <a:p>
            <a:pPr lvl="0"/>
            <a:r>
              <a:rPr lang="en-IN" dirty="0"/>
              <a:t>Maintain invoice and return history.</a:t>
            </a:r>
          </a:p>
          <a:p>
            <a:pPr lvl="0"/>
            <a:r>
              <a:rPr lang="en-IN" dirty="0"/>
              <a:t>Search invoices using Invoice ID or invoice image.</a:t>
            </a:r>
          </a:p>
          <a:p>
            <a:pPr lvl="0"/>
            <a:r>
              <a:rPr lang="en-IN" dirty="0"/>
              <a:t>Provide a simple sales dashboard for sales tracking.</a:t>
            </a:r>
          </a:p>
          <a:p>
            <a:pPr lvl="0"/>
            <a:r>
              <a:rPr lang="en-IN" dirty="0"/>
              <a:t>Develop an easy-to-use billing system for different types of retail stores.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0019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90D46-5311-AE21-D95E-155192EA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4FB0F-5563-3AF6-ADBF-478F664FA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Features :-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D4AC19-2B75-0512-4578-076DBD9C6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IN" dirty="0"/>
              <a:t>Login &amp; Authentication</a:t>
            </a:r>
          </a:p>
          <a:p>
            <a:pPr lvl="0"/>
            <a:r>
              <a:rPr lang="en-IN" dirty="0"/>
              <a:t>Customer Management </a:t>
            </a:r>
          </a:p>
          <a:p>
            <a:pPr lvl="0"/>
            <a:r>
              <a:rPr lang="en-IN" dirty="0"/>
              <a:t>Product Management </a:t>
            </a:r>
          </a:p>
          <a:p>
            <a:pPr lvl="0"/>
            <a:r>
              <a:rPr lang="en-IN" dirty="0"/>
              <a:t>SQLite Database </a:t>
            </a:r>
          </a:p>
          <a:p>
            <a:pPr lvl="0"/>
            <a:r>
              <a:rPr lang="en-IN" dirty="0"/>
              <a:t>Category-wise GST </a:t>
            </a:r>
          </a:p>
          <a:p>
            <a:pPr lvl="0"/>
            <a:r>
              <a:rPr lang="en-IN" dirty="0"/>
              <a:t>Discount Calculation </a:t>
            </a:r>
          </a:p>
          <a:p>
            <a:pPr lvl="0"/>
            <a:r>
              <a:rPr lang="en-IN" dirty="0"/>
              <a:t>Invoice Generation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615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1D895E-7D68-4CB4-E9C4-026584F78175}"/>
              </a:ext>
            </a:extLst>
          </p:cNvPr>
          <p:cNvSpPr txBox="1"/>
          <p:nvPr/>
        </p:nvSpPr>
        <p:spPr>
          <a:xfrm>
            <a:off x="38582" y="151179"/>
            <a:ext cx="121920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buAutoNum type="arabicPeriod"/>
            </a:pPr>
            <a:r>
              <a:rPr lang="en-US" sz="4800" b="1" dirty="0"/>
              <a:t>Login &amp; Authentication</a:t>
            </a:r>
          </a:p>
          <a:p>
            <a:endParaRPr lang="en-US" sz="3200" b="1" dirty="0"/>
          </a:p>
          <a:p>
            <a:r>
              <a:rPr lang="en-US" sz="3200" b="1" dirty="0"/>
              <a:t>Purpose:</a:t>
            </a:r>
            <a:r>
              <a:rPr lang="en-US" sz="3200" dirty="0"/>
              <a:t> </a:t>
            </a:r>
          </a:p>
          <a:p>
            <a:r>
              <a:rPr lang="en-US" sz="3600" dirty="0"/>
              <a:t> </a:t>
            </a:r>
            <a:r>
              <a:rPr lang="en-US" sz="2800" dirty="0"/>
              <a:t>To allow only authorized billing counters to access the system.</a:t>
            </a:r>
          </a:p>
          <a:p>
            <a:br>
              <a:rPr lang="en-US" sz="2800" dirty="0"/>
            </a:br>
            <a:r>
              <a:rPr lang="en-US" sz="3200" b="1" dirty="0"/>
              <a:t>Functional Requirements:</a:t>
            </a:r>
            <a:br>
              <a:rPr lang="en-US" sz="3200" b="1" dirty="0"/>
            </a:br>
            <a:r>
              <a:rPr lang="en-US" sz="2800" dirty="0"/>
              <a:t>Create a login page where users enter their username and password.</a:t>
            </a:r>
            <a:br>
              <a:rPr lang="en-US" sz="2800" dirty="0"/>
            </a:br>
            <a:r>
              <a:rPr lang="en-US" sz="2800" dirty="0"/>
              <a:t>Use the same password for all six billing counters, but each counter should have a different username.</a:t>
            </a:r>
            <a:br>
              <a:rPr lang="en-US" sz="2800" dirty="0"/>
            </a:br>
            <a:r>
              <a:rPr lang="en-US" sz="2800" dirty="0"/>
              <a:t>Validate the username and password before allowing access.</a:t>
            </a:r>
            <a:br>
              <a:rPr lang="en-US" sz="2800" dirty="0"/>
            </a:br>
            <a:r>
              <a:rPr lang="en-US" sz="2800" dirty="0"/>
              <a:t>Display the logged-in username on the dashboard after successful login.</a:t>
            </a:r>
            <a:br>
              <a:rPr lang="en-US" sz="2800" dirty="0"/>
            </a:br>
            <a:r>
              <a:rPr lang="en-US" sz="2800" dirty="0"/>
              <a:t>If the login details are incorrect, show an appropriate error message.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70236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39E7D-ADC8-A98E-BF0E-F09D3EB1DF3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289367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2. Customer Management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3200" b="1" dirty="0"/>
              <a:t>Purpose: </a:t>
            </a:r>
          </a:p>
          <a:p>
            <a:pPr marL="0" indent="0">
              <a:buNone/>
            </a:pPr>
            <a:r>
              <a:rPr lang="en-US" dirty="0"/>
              <a:t>To store and manage customer information.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3200" b="1" dirty="0"/>
              <a:t>Functional Requirements:</a:t>
            </a:r>
            <a:br>
              <a:rPr lang="en-US" sz="3200" b="1" dirty="0"/>
            </a:br>
            <a:r>
              <a:rPr lang="en-US" dirty="0"/>
              <a:t>Add new customer details such as name, mobile number, and email address.</a:t>
            </a:r>
            <a:br>
              <a:rPr lang="en-US" dirty="0"/>
            </a:br>
            <a:r>
              <a:rPr lang="en-US" dirty="0"/>
              <a:t>Search customer details using name or mobile number.</a:t>
            </a:r>
            <a:br>
              <a:rPr lang="en-US" dirty="0"/>
            </a:br>
            <a:r>
              <a:rPr lang="en-US" dirty="0"/>
              <a:t>Update customer information whenever required.</a:t>
            </a:r>
            <a:br>
              <a:rPr lang="en-US" dirty="0"/>
            </a:br>
            <a:r>
              <a:rPr lang="en-US" dirty="0"/>
              <a:t>Store all customer details permanently in the SQLite database.</a:t>
            </a:r>
            <a:br>
              <a:rPr lang="en-US" dirty="0"/>
            </a:br>
            <a:r>
              <a:rPr lang="en-US" dirty="0"/>
              <a:t>Customer email should be available for sending the invoice.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6423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462A44-30C5-E2BD-90C9-C3ADB8075AAD}"/>
              </a:ext>
            </a:extLst>
          </p:cNvPr>
          <p:cNvSpPr txBox="1"/>
          <p:nvPr/>
        </p:nvSpPr>
        <p:spPr>
          <a:xfrm>
            <a:off x="150471" y="0"/>
            <a:ext cx="12041529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3. Product Management</a:t>
            </a:r>
          </a:p>
          <a:p>
            <a:br>
              <a:rPr lang="en-US" sz="3200" dirty="0"/>
            </a:br>
            <a:r>
              <a:rPr lang="en-US" sz="3200" b="1" dirty="0"/>
              <a:t>Purpose: </a:t>
            </a:r>
          </a:p>
          <a:p>
            <a:r>
              <a:rPr lang="en-US" sz="2800" dirty="0"/>
              <a:t>To manage all products used for billing</a:t>
            </a:r>
            <a:r>
              <a:rPr lang="en-US" sz="3200" dirty="0"/>
              <a:t>.</a:t>
            </a:r>
          </a:p>
          <a:p>
            <a:br>
              <a:rPr lang="en-US" sz="3200" dirty="0"/>
            </a:br>
            <a:r>
              <a:rPr lang="en-US" sz="3200" b="1" dirty="0"/>
              <a:t>Functional Requirements:</a:t>
            </a:r>
            <a:br>
              <a:rPr lang="en-US" sz="3200" b="1" dirty="0"/>
            </a:br>
            <a:r>
              <a:rPr lang="en-US" sz="2800" dirty="0"/>
              <a:t>Add new products with product name, category, price, stock quantity, and GST category.</a:t>
            </a:r>
            <a:br>
              <a:rPr lang="en-US" sz="2800" dirty="0"/>
            </a:br>
            <a:r>
              <a:rPr lang="en-US" sz="2800" dirty="0"/>
              <a:t>Update product details whenever required.</a:t>
            </a:r>
            <a:br>
              <a:rPr lang="en-US" sz="2800" dirty="0"/>
            </a:br>
            <a:r>
              <a:rPr lang="en-US" sz="2800" dirty="0"/>
              <a:t>Reduce product stock automatically after invoice generation.</a:t>
            </a:r>
            <a:br>
              <a:rPr lang="en-US" sz="2800" dirty="0"/>
            </a:br>
            <a:r>
              <a:rPr lang="en-US" sz="2800" dirty="0"/>
              <a:t>Display available products while creating an invoice.</a:t>
            </a:r>
            <a:br>
              <a:rPr lang="en-US" sz="2800" dirty="0"/>
            </a:br>
            <a:r>
              <a:rPr lang="en-US" sz="2800" dirty="0"/>
              <a:t>Store all product details permanently in the SQLite database.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618032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A4910-D3E8-CAA9-E7B4-BCF2C6B7BFA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5747"/>
            <a:ext cx="12192000" cy="674225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1" dirty="0"/>
              <a:t>4.Invoice Generation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3500" b="1" dirty="0"/>
              <a:t>Purpose:</a:t>
            </a:r>
          </a:p>
          <a:p>
            <a:pPr marL="0" indent="0">
              <a:buNone/>
            </a:pPr>
            <a:r>
              <a:rPr lang="en-US" dirty="0"/>
              <a:t> To generate the final invoice automatically.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sz="3500" b="1" dirty="0"/>
              <a:t>Functional Requirements: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Allow the user to select a customer and multiple products.</a:t>
            </a:r>
          </a:p>
          <a:p>
            <a:pPr marL="0" indent="0">
              <a:buNone/>
            </a:pPr>
            <a:r>
              <a:rPr lang="en-US" dirty="0"/>
              <a:t>Calculate GST automatically according to the selected product category.</a:t>
            </a:r>
          </a:p>
          <a:p>
            <a:pPr marL="0" indent="0">
              <a:buNone/>
            </a:pPr>
            <a:r>
              <a:rPr lang="en-US" dirty="0"/>
              <a:t>Apply discount if applicable before generating the final amount.</a:t>
            </a:r>
            <a:br>
              <a:rPr lang="en-US" dirty="0"/>
            </a:br>
            <a:r>
              <a:rPr lang="en-US" dirty="0"/>
              <a:t>Generate a unique Invoice ID for every invoice.</a:t>
            </a:r>
            <a:br>
              <a:rPr lang="en-US" dirty="0"/>
            </a:br>
            <a:r>
              <a:rPr lang="en-US" dirty="0"/>
              <a:t>Save invoice details in the SQLite database after successful billing.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39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4109DB-0F4D-5EDA-B614-444A7779B1A8}"/>
              </a:ext>
            </a:extLst>
          </p:cNvPr>
          <p:cNvSpPr txBox="1"/>
          <p:nvPr/>
        </p:nvSpPr>
        <p:spPr>
          <a:xfrm>
            <a:off x="0" y="0"/>
            <a:ext cx="1229231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5. PDF Invoice</a:t>
            </a:r>
          </a:p>
          <a:p>
            <a:br>
              <a:rPr lang="en-US" sz="2800" dirty="0"/>
            </a:br>
            <a:r>
              <a:rPr lang="en-US" sz="3200" b="1" dirty="0"/>
              <a:t>Purpose:</a:t>
            </a:r>
          </a:p>
          <a:p>
            <a:r>
              <a:rPr lang="en-US" sz="2800" dirty="0"/>
              <a:t> To generate and save invoices in PDF format.</a:t>
            </a:r>
          </a:p>
          <a:p>
            <a:br>
              <a:rPr lang="en-US" sz="2800" dirty="0"/>
            </a:br>
            <a:r>
              <a:rPr lang="en-US" sz="3200" b="1" dirty="0"/>
              <a:t>Functional Requirements</a:t>
            </a:r>
            <a:r>
              <a:rPr lang="en-US" sz="2800" b="1" dirty="0"/>
              <a:t>:</a:t>
            </a:r>
            <a:br>
              <a:rPr lang="en-US" sz="2800" dirty="0"/>
            </a:br>
            <a:r>
              <a:rPr lang="en-US" sz="2800" dirty="0"/>
              <a:t>Generate a PDF copy of every invoice.</a:t>
            </a:r>
            <a:br>
              <a:rPr lang="en-US" sz="2800" dirty="0"/>
            </a:br>
            <a:r>
              <a:rPr lang="en-US" sz="2800" dirty="0"/>
              <a:t>Include customer details, purchased products, GST, discount, total amount, and Invoice ID.</a:t>
            </a:r>
            <a:br>
              <a:rPr lang="en-US" sz="2800" dirty="0"/>
            </a:br>
            <a:r>
              <a:rPr lang="en-US" sz="2800" dirty="0"/>
              <a:t>Save the PDF automatically after invoice generation.</a:t>
            </a:r>
            <a:br>
              <a:rPr lang="en-US" sz="2800" dirty="0"/>
            </a:br>
            <a:r>
              <a:rPr lang="en-US" sz="2800" dirty="0"/>
              <a:t>Keep the PDF ready for email sending and future reference.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22711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19F264-165C-FCF4-39DA-21F063387C32}"/>
              </a:ext>
            </a:extLst>
          </p:cNvPr>
          <p:cNvSpPr txBox="1"/>
          <p:nvPr/>
        </p:nvSpPr>
        <p:spPr>
          <a:xfrm>
            <a:off x="0" y="0"/>
            <a:ext cx="121920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6.Email Invoice</a:t>
            </a:r>
          </a:p>
          <a:p>
            <a:br>
              <a:rPr lang="en-US" sz="2800" dirty="0"/>
            </a:br>
            <a:r>
              <a:rPr lang="en-US" sz="3200" b="1" dirty="0"/>
              <a:t>Purpose:</a:t>
            </a:r>
          </a:p>
          <a:p>
            <a:r>
              <a:rPr lang="en-US" sz="2800" dirty="0"/>
              <a:t> To send the generated invoice to the customer.</a:t>
            </a:r>
          </a:p>
          <a:p>
            <a:br>
              <a:rPr lang="en-US" sz="2800" dirty="0"/>
            </a:br>
            <a:r>
              <a:rPr lang="en-US" sz="3200" b="1" dirty="0"/>
              <a:t>Functional Requirements:</a:t>
            </a:r>
            <a:br>
              <a:rPr lang="en-US" sz="2800" dirty="0"/>
            </a:br>
            <a:r>
              <a:rPr lang="en-US" sz="2800" dirty="0"/>
              <a:t>Use the customer's email stored in the database.</a:t>
            </a:r>
            <a:br>
              <a:rPr lang="en-US" sz="2800" dirty="0"/>
            </a:br>
            <a:r>
              <a:rPr lang="en-US" sz="2800" dirty="0"/>
              <a:t>Send the generated PDF invoice as an email attachment.</a:t>
            </a:r>
            <a:br>
              <a:rPr lang="en-US" sz="2800" dirty="0"/>
            </a:br>
            <a:r>
              <a:rPr lang="en-US" sz="2800" dirty="0"/>
              <a:t>Ask the user for confirmation before sending the email.</a:t>
            </a:r>
            <a:br>
              <a:rPr lang="en-US" sz="2800" dirty="0"/>
            </a:br>
            <a:r>
              <a:rPr lang="en-US" sz="2800" dirty="0"/>
              <a:t>Display a success or failure message after sending the email.</a:t>
            </a:r>
            <a:br>
              <a:rPr lang="en-US" sz="2800" dirty="0"/>
            </a:br>
            <a:r>
              <a:rPr lang="en-US" sz="2800" dirty="0"/>
              <a:t>Store the email status for future reference.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4157567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5226BD-DC74-9FCA-A334-0032F7DDEAAD}"/>
              </a:ext>
            </a:extLst>
          </p:cNvPr>
          <p:cNvSpPr txBox="1"/>
          <p:nvPr/>
        </p:nvSpPr>
        <p:spPr>
          <a:xfrm>
            <a:off x="0" y="154072"/>
            <a:ext cx="12107119" cy="680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 7. Search Invoice</a:t>
            </a:r>
          </a:p>
          <a:p>
            <a:br>
              <a:rPr lang="en-US" sz="4800" b="1" dirty="0"/>
            </a:br>
            <a:r>
              <a:rPr lang="en-US" sz="3200" b="1" dirty="0"/>
              <a:t>Purpose: </a:t>
            </a:r>
          </a:p>
          <a:p>
            <a:r>
              <a:rPr lang="en-US" sz="2800" dirty="0"/>
              <a:t>To quickly find previously generated invoices.</a:t>
            </a:r>
          </a:p>
          <a:p>
            <a:br>
              <a:rPr lang="en-US" sz="2800" dirty="0"/>
            </a:br>
            <a:r>
              <a:rPr lang="en-US" sz="3200" b="1" dirty="0"/>
              <a:t>Functional Requirements:</a:t>
            </a:r>
            <a:br>
              <a:rPr lang="en-US" sz="3200" b="1" dirty="0"/>
            </a:br>
            <a:r>
              <a:rPr lang="en-US" sz="2800" dirty="0"/>
              <a:t>Search invoices using Invoice ID.</a:t>
            </a:r>
            <a:br>
              <a:rPr lang="en-US" sz="2800" dirty="0"/>
            </a:br>
            <a:r>
              <a:rPr lang="en-US" sz="2800" dirty="0"/>
              <a:t>Allow users to select an invoice image using a simple </a:t>
            </a:r>
            <a:r>
              <a:rPr lang="en-US" sz="2800" dirty="0" err="1"/>
              <a:t>Tkinter</a:t>
            </a:r>
            <a:r>
              <a:rPr lang="en-US" sz="2800" dirty="0"/>
              <a:t> file selection window.</a:t>
            </a:r>
            <a:br>
              <a:rPr lang="en-US" sz="2800" dirty="0"/>
            </a:br>
            <a:r>
              <a:rPr lang="en-US" sz="2800" dirty="0"/>
              <a:t>Accept JPG and PNG image formats.</a:t>
            </a:r>
            <a:br>
              <a:rPr lang="en-US" sz="2800" dirty="0"/>
            </a:br>
            <a:r>
              <a:rPr lang="en-US" sz="2800" dirty="0"/>
              <a:t>Perform image-based invoice search (simple image recognition/OCR approach).</a:t>
            </a:r>
            <a:br>
              <a:rPr lang="en-US" sz="2800" dirty="0"/>
            </a:br>
            <a:r>
              <a:rPr lang="en-US" sz="2800" dirty="0"/>
              <a:t>If image search fails, allow searching manually using Invoice ID.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87094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ECC036-446D-0B36-5898-D6FB5A413C48}"/>
              </a:ext>
            </a:extLst>
          </p:cNvPr>
          <p:cNvSpPr txBox="1"/>
          <p:nvPr/>
        </p:nvSpPr>
        <p:spPr>
          <a:xfrm>
            <a:off x="375138" y="237772"/>
            <a:ext cx="1200443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8.Return &amp; Return History</a:t>
            </a:r>
          </a:p>
          <a:p>
            <a:br>
              <a:rPr lang="en-US" sz="4400" dirty="0"/>
            </a:br>
            <a:r>
              <a:rPr lang="en-US" sz="3200" b="1" dirty="0"/>
              <a:t>Purpose: </a:t>
            </a:r>
            <a:r>
              <a:rPr lang="en-US" sz="2800" dirty="0"/>
              <a:t>To manage product returns and maintain return records.</a:t>
            </a:r>
          </a:p>
          <a:p>
            <a:br>
              <a:rPr lang="en-US" sz="2800" dirty="0"/>
            </a:br>
            <a:r>
              <a:rPr lang="en-US" sz="3200" b="1" dirty="0"/>
              <a:t>Functional Requirements:</a:t>
            </a:r>
            <a:br>
              <a:rPr lang="en-US" sz="4400" dirty="0"/>
            </a:br>
            <a:r>
              <a:rPr lang="en-US" sz="2800" dirty="0"/>
              <a:t>Search the original invoice before processing a return.</a:t>
            </a:r>
            <a:br>
              <a:rPr lang="en-US" sz="2800" dirty="0"/>
            </a:br>
            <a:r>
              <a:rPr lang="en-US" sz="2800" dirty="0"/>
              <a:t>Allow food items to be returned within 3 days.</a:t>
            </a:r>
            <a:br>
              <a:rPr lang="en-US" sz="2800" dirty="0"/>
            </a:br>
            <a:r>
              <a:rPr lang="en-US" sz="2800" dirty="0"/>
              <a:t>Allow all other products to be returned within 7 days.</a:t>
            </a:r>
            <a:br>
              <a:rPr lang="en-US" sz="2800" dirty="0"/>
            </a:br>
            <a:r>
              <a:rPr lang="en-US" sz="2800" dirty="0"/>
              <a:t>Update product stock automatically after a successful return.</a:t>
            </a:r>
            <a:br>
              <a:rPr lang="en-US" sz="2800" dirty="0"/>
            </a:br>
            <a:r>
              <a:rPr lang="en-US" sz="2800" dirty="0"/>
              <a:t>Save return details and maintain return history in the SQLite database.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263757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DABF50-A538-DA64-2F54-8CA38E7262CF}"/>
              </a:ext>
            </a:extLst>
          </p:cNvPr>
          <p:cNvSpPr txBox="1"/>
          <p:nvPr/>
        </p:nvSpPr>
        <p:spPr>
          <a:xfrm>
            <a:off x="187569" y="240804"/>
            <a:ext cx="91440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9. Sales Dashboard</a:t>
            </a:r>
          </a:p>
          <a:p>
            <a:br>
              <a:rPr lang="en-US" sz="4400" dirty="0"/>
            </a:br>
            <a:r>
              <a:rPr lang="en-US" sz="3200" b="1" dirty="0"/>
              <a:t>Purpose:</a:t>
            </a:r>
          </a:p>
          <a:p>
            <a:r>
              <a:rPr lang="en-US" sz="4400" dirty="0"/>
              <a:t> </a:t>
            </a:r>
            <a:r>
              <a:rPr lang="en-US" sz="2800" dirty="0"/>
              <a:t>To display important business information in a simple dashboard.</a:t>
            </a:r>
            <a:br>
              <a:rPr lang="en-US" sz="4400" dirty="0"/>
            </a:br>
            <a:r>
              <a:rPr lang="en-US" sz="3200" b="1" dirty="0"/>
              <a:t>Functional Requirements:</a:t>
            </a:r>
            <a:br>
              <a:rPr lang="en-US" sz="4400" dirty="0"/>
            </a:br>
            <a:r>
              <a:rPr lang="en-US" sz="2800" dirty="0"/>
              <a:t>Create a simple </a:t>
            </a:r>
            <a:r>
              <a:rPr lang="en-US" sz="2800" dirty="0" err="1"/>
              <a:t>Tkinter</a:t>
            </a:r>
            <a:r>
              <a:rPr lang="en-US" sz="2800" dirty="0"/>
              <a:t> dashboard.</a:t>
            </a:r>
            <a:br>
              <a:rPr lang="en-US" sz="2800" dirty="0"/>
            </a:br>
            <a:r>
              <a:rPr lang="en-US" sz="2800" dirty="0"/>
              <a:t>Display Total Customers, Total Products, Total Invoices, Total Sales, and Low Stock Products.</a:t>
            </a:r>
            <a:br>
              <a:rPr lang="en-US" sz="2800" dirty="0"/>
            </a:br>
            <a:r>
              <a:rPr lang="en-US" sz="2800" dirty="0"/>
              <a:t>Display simple graphs for sales information.</a:t>
            </a:r>
            <a:br>
              <a:rPr lang="en-US" sz="2800" dirty="0"/>
            </a:br>
            <a:r>
              <a:rPr lang="en-US" sz="2800" dirty="0"/>
              <a:t>Use buttons to open different dashboard sections.</a:t>
            </a:r>
            <a:br>
              <a:rPr lang="en-US" sz="2800" dirty="0"/>
            </a:br>
            <a:r>
              <a:rPr lang="en-US" sz="2800" dirty="0"/>
              <a:t>Retrieve all data directly from the SQLite database.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7422910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FB008F-D4B8-9006-811E-1EF9835E4CCE}"/>
              </a:ext>
            </a:extLst>
          </p:cNvPr>
          <p:cNvSpPr txBox="1"/>
          <p:nvPr/>
        </p:nvSpPr>
        <p:spPr>
          <a:xfrm>
            <a:off x="152400" y="120402"/>
            <a:ext cx="11887200" cy="6617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/>
              <a:t>10. SQLite Database</a:t>
            </a:r>
          </a:p>
          <a:p>
            <a:br>
              <a:rPr lang="en-US" sz="4400" dirty="0"/>
            </a:br>
            <a:r>
              <a:rPr lang="en-US" sz="3200" b="1" dirty="0"/>
              <a:t>Purpose: </a:t>
            </a:r>
          </a:p>
          <a:p>
            <a:r>
              <a:rPr lang="en-US" sz="2800" dirty="0"/>
              <a:t>To store all project data permanently.</a:t>
            </a:r>
          </a:p>
          <a:p>
            <a:br>
              <a:rPr lang="en-US" sz="4400" dirty="0"/>
            </a:br>
            <a:r>
              <a:rPr lang="en-US" sz="3200" b="1" dirty="0"/>
              <a:t>Functional Requirements:</a:t>
            </a:r>
            <a:br>
              <a:rPr lang="en-US" sz="4400" dirty="0"/>
            </a:br>
            <a:r>
              <a:rPr lang="en-US" sz="2800" dirty="0"/>
              <a:t>Create tables for Users, Customers, Products, Invoices, Invoice Items, and Returns.</a:t>
            </a:r>
            <a:br>
              <a:rPr lang="en-US" sz="2800" dirty="0"/>
            </a:br>
            <a:r>
              <a:rPr lang="en-US" sz="2800" dirty="0"/>
              <a:t>Store customer, product, invoice, and return details permanently.</a:t>
            </a:r>
            <a:br>
              <a:rPr lang="en-US" sz="2800" dirty="0"/>
            </a:br>
            <a:r>
              <a:rPr lang="en-US" sz="2800" dirty="0"/>
              <a:t>Retrieve records whenever required by other modules.</a:t>
            </a:r>
            <a:br>
              <a:rPr lang="en-US" sz="2800" dirty="0"/>
            </a:br>
            <a:r>
              <a:rPr lang="en-US" sz="2800" dirty="0"/>
              <a:t>Update records after billing, returns, or product changes.</a:t>
            </a:r>
            <a:br>
              <a:rPr lang="en-US" sz="2800" dirty="0"/>
            </a:br>
            <a:r>
              <a:rPr lang="en-US" sz="2800" dirty="0"/>
              <a:t>Maintain proper relationships between tables using IDs.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62886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DD29F3-B1EA-323D-57D5-9F12DDBBE942}"/>
              </a:ext>
            </a:extLst>
          </p:cNvPr>
          <p:cNvSpPr txBox="1"/>
          <p:nvPr/>
        </p:nvSpPr>
        <p:spPr>
          <a:xfrm>
            <a:off x="222738" y="335845"/>
            <a:ext cx="1174652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/>
              <a:t> </a:t>
            </a:r>
            <a:r>
              <a:rPr lang="en-US" sz="4800" b="1" dirty="0"/>
              <a:t>11. Main Menu</a:t>
            </a:r>
          </a:p>
          <a:p>
            <a:br>
              <a:rPr lang="en-US" sz="4400" dirty="0"/>
            </a:br>
            <a:r>
              <a:rPr lang="en-US" sz="3200" b="1" dirty="0"/>
              <a:t>Purpose: </a:t>
            </a:r>
          </a:p>
          <a:p>
            <a:r>
              <a:rPr lang="en-US" sz="2800" dirty="0"/>
              <a:t>To connect all modules of the project.</a:t>
            </a:r>
          </a:p>
          <a:p>
            <a:br>
              <a:rPr lang="en-US" sz="4400" dirty="0"/>
            </a:br>
            <a:r>
              <a:rPr lang="en-US" sz="3200" b="1" dirty="0"/>
              <a:t>Functional Requirements</a:t>
            </a:r>
            <a:r>
              <a:rPr lang="en-US" sz="3200" dirty="0"/>
              <a:t>:</a:t>
            </a:r>
            <a:br>
              <a:rPr lang="en-US" sz="4400" dirty="0"/>
            </a:br>
            <a:r>
              <a:rPr lang="en-US" sz="2800" dirty="0"/>
              <a:t> Display all available modules after successful login.</a:t>
            </a:r>
            <a:br>
              <a:rPr lang="en-US" sz="2800" dirty="0"/>
            </a:br>
            <a:r>
              <a:rPr lang="en-US" sz="2800" dirty="0"/>
              <a:t>Open the selected module for main menu.</a:t>
            </a:r>
            <a:br>
              <a:rPr lang="en-US" sz="2800" dirty="0"/>
            </a:br>
            <a:r>
              <a:rPr lang="en-US" sz="2800" dirty="0"/>
              <a:t>Return to the main menu after completing a task.</a:t>
            </a:r>
            <a:br>
              <a:rPr lang="en-US" sz="2800" dirty="0"/>
            </a:br>
            <a:r>
              <a:rPr lang="en-US" sz="2800" dirty="0"/>
              <a:t>Allow users to log out or exit the application safely.</a:t>
            </a:r>
            <a:br>
              <a:rPr lang="en-US" sz="2800" dirty="0"/>
            </a:br>
            <a:r>
              <a:rPr lang="en-US" sz="2800" dirty="0"/>
              <a:t>Ensure smooth navigation between all modules.</a:t>
            </a:r>
            <a:br>
              <a:rPr lang="en-US" sz="2800" dirty="0"/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614505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CE294-ACAB-1F46-B609-F1F41E2D9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C1C52-B4E4-9F41-CC86-3DA989B4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5400" dirty="0"/>
              <a:t>Task Distribution to Developers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7BEEA4C-C4FB-228C-BBAA-BDDC55625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322349"/>
              </p:ext>
            </p:extLst>
          </p:nvPr>
        </p:nvGraphicFramePr>
        <p:xfrm>
          <a:off x="30480" y="1825624"/>
          <a:ext cx="12161520" cy="489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20">
                  <a:extLst>
                    <a:ext uri="{9D8B030D-6E8A-4147-A177-3AD203B41FA5}">
                      <a16:colId xmlns:a16="http://schemas.microsoft.com/office/drawing/2014/main" val="340570206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1156726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309113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860597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120897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12409557"/>
                    </a:ext>
                  </a:extLst>
                </a:gridCol>
              </a:tblGrid>
              <a:tr h="1224004">
                <a:tc>
                  <a:txBody>
                    <a:bodyPr/>
                    <a:lstStyle/>
                    <a:p>
                      <a:r>
                        <a:rPr lang="en-US" sz="2400" dirty="0" err="1"/>
                        <a:t>Devepolers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Task 1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Task 2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Task 3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Task 4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Working hours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3070101"/>
                  </a:ext>
                </a:extLst>
              </a:tr>
              <a:tr h="1224004">
                <a:tc>
                  <a:txBody>
                    <a:bodyPr/>
                    <a:lstStyle/>
                    <a:p>
                      <a:r>
                        <a:rPr lang="en-US" dirty="0"/>
                        <a:t>Dimple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 Generation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321350"/>
                  </a:ext>
                </a:extLst>
              </a:tr>
              <a:tr h="1224004">
                <a:tc>
                  <a:txBody>
                    <a:bodyPr/>
                    <a:lstStyle/>
                    <a:p>
                      <a:r>
                        <a:rPr lang="en-US" dirty="0"/>
                        <a:t>Dhanraj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and Return History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 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5186009"/>
                  </a:ext>
                </a:extLst>
              </a:tr>
              <a:tr h="1224004">
                <a:tc>
                  <a:txBody>
                    <a:bodyPr/>
                    <a:lstStyle/>
                    <a:p>
                      <a:r>
                        <a:rPr lang="en-US" dirty="0" err="1"/>
                        <a:t>Prashik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&amp; Authentication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81329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684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D7440B-E4E3-FB51-3328-6726B83C9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061373"/>
              </p:ext>
            </p:extLst>
          </p:nvPr>
        </p:nvGraphicFramePr>
        <p:xfrm>
          <a:off x="0" y="985521"/>
          <a:ext cx="12192000" cy="58724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080">
                  <a:extLst>
                    <a:ext uri="{9D8B030D-6E8A-4147-A177-3AD203B41FA5}">
                      <a16:colId xmlns:a16="http://schemas.microsoft.com/office/drawing/2014/main" val="3189451375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1436283561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985854013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539031741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2371865161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2213377826"/>
                    </a:ext>
                  </a:extLst>
                </a:gridCol>
                <a:gridCol w="1727320">
                  <a:extLst>
                    <a:ext uri="{9D8B030D-6E8A-4147-A177-3AD203B41FA5}">
                      <a16:colId xmlns:a16="http://schemas.microsoft.com/office/drawing/2014/main" val="84560062"/>
                    </a:ext>
                  </a:extLst>
                </a:gridCol>
              </a:tblGrid>
              <a:tr h="1957493">
                <a:tc>
                  <a:txBody>
                    <a:bodyPr/>
                    <a:lstStyle/>
                    <a:p>
                      <a:r>
                        <a:rPr lang="en-US" sz="2800" dirty="0"/>
                        <a:t>QAs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1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2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3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4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5</a:t>
                      </a:r>
                      <a:endParaRPr lang="en-IN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Task 6</a:t>
                      </a:r>
                      <a:endParaRPr lang="en-IN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928287"/>
                  </a:ext>
                </a:extLst>
              </a:tr>
              <a:tr h="1957493">
                <a:tc>
                  <a:txBody>
                    <a:bodyPr/>
                    <a:lstStyle/>
                    <a:p>
                      <a:r>
                        <a:rPr lang="en-US" dirty="0"/>
                        <a:t>Dhanashri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and </a:t>
                      </a:r>
                      <a:r>
                        <a:rPr lang="en-US" dirty="0" err="1"/>
                        <a:t>Authantucation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 Management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Management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PDF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SQLite </a:t>
                      </a:r>
                      <a:r>
                        <a:rPr lang="en-US" dirty="0" err="1"/>
                        <a:t>DAtabase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101936"/>
                  </a:ext>
                </a:extLst>
              </a:tr>
              <a:tr h="1957493">
                <a:tc>
                  <a:txBody>
                    <a:bodyPr/>
                    <a:lstStyle/>
                    <a:p>
                      <a:r>
                        <a:rPr lang="en-US" dirty="0"/>
                        <a:t>Harshwardhan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Invoice Generation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Email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Search Invoice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Return and Return History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Sales Dashboard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Menu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6149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D53E0DD-FFFB-05F4-041D-322DC259CF94}"/>
              </a:ext>
            </a:extLst>
          </p:cNvPr>
          <p:cNvSpPr txBox="1"/>
          <p:nvPr/>
        </p:nvSpPr>
        <p:spPr>
          <a:xfrm>
            <a:off x="254000" y="0"/>
            <a:ext cx="11389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/>
              <a:t>Task Distribution to Developers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7239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1086</Words>
  <Application>Microsoft Office PowerPoint</Application>
  <PresentationFormat>Widescreen</PresentationFormat>
  <Paragraphs>126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Topic Name :-Automatic Invoice Generator. </vt:lpstr>
      <vt:lpstr>Roles:-</vt:lpstr>
      <vt:lpstr>Project Objectives:-</vt:lpstr>
      <vt:lpstr>Features :-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Distribution to Developers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chaitali patil</dc:creator>
  <cp:lastModifiedBy>chaitali patil</cp:lastModifiedBy>
  <cp:revision>1</cp:revision>
  <dcterms:created xsi:type="dcterms:W3CDTF">2026-07-12T21:11:12Z</dcterms:created>
  <dcterms:modified xsi:type="dcterms:W3CDTF">2026-07-13T00:22:01Z</dcterms:modified>
</cp:coreProperties>
</file>