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235" autoAdjust="0"/>
  </p:normalViewPr>
  <p:slideViewPr>
    <p:cSldViewPr snapToGrid="0">
      <p:cViewPr varScale="1">
        <p:scale>
          <a:sx n="73" d="100"/>
          <a:sy n="73" d="100"/>
        </p:scale>
        <p:origin x="10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BD4A-F16F-5AA8-4595-1033520E9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E15DC-5E5C-03E4-E37A-F33D9DC22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09FD7-10A3-AD35-E956-819C6544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DBC14-4856-C49F-36CA-A650C5C4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0AC0D-05B1-53B3-E2B0-FC9BB1AA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15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078B-8FB3-A3A1-BCD0-8FB34F5D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E6E9-E94A-CE6E-B6AE-04A7C463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7DAA-AF31-39B3-BA7B-D82BB561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9E5C9-BC2D-8932-35D9-26F6DC8C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47B1-D759-5FD7-F516-ED52A992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83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C913-980C-5368-3279-4B35538C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9C61B-1358-580B-E811-353041CA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F193F-EA51-8DE1-8711-A038CD6D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7EB9-3F89-3541-4270-41D1BE9F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01300-6D9A-F0EA-CB23-7BBA8B02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9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6E17-E4AF-632B-8E47-5EFBF3EF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64F3-8EAD-C643-A8DF-775769004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02574-E6F0-334D-0A00-CA026AE02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7CD6-BDF9-0965-0D1E-330A594C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2D141-BEDD-92A7-995D-857959A7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295F8-1634-6FB8-D753-F73CDD0E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16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61B1-9CA9-66A3-3CC7-9D8421991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EC88F-86E9-9950-23F3-154CB4E64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09DEB-1280-3164-B1DE-60FEDE41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3CB3D-909E-2E6D-1F3E-A3681AFE7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0C9809-BCF3-B5A8-E2CF-90C69C41B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6DEB4-ADC6-9A5D-ED19-462B44E1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CA3B5-439D-F80F-6D34-B7922DC8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6FD16-C569-B8AC-DBCB-92BFE1D2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5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2977-AD6D-55EF-EB7D-DCCAFA0C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A9A9C-EC43-583B-60BB-CDC0EC8C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37C14-7802-B0BF-02FD-EF9341629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109B7-93E9-515E-6CA8-2D78C26A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14CAF-412A-D9C3-918B-049F9E72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939AC-98D9-59D3-F1D1-9023D1DB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E9B49-21E1-0065-1B6B-EB7551A7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46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2A724-1780-F51C-414E-E358CF69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2D487-A578-97E8-4129-2AE6D7DBA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A9752-6025-4150-C79C-AD22E230E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0D33A-08F6-3207-8EA8-04B0E7B6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BB47-AC06-8D1B-8A86-BA775952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425DC-9B83-3755-C0DA-045A038E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46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4E45-1D55-E37A-A85C-849805F92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27664-E39D-EE23-D28E-FFC78A01A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EC3CE-8D74-2936-9F49-70D34F90B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0F36-DDDB-E641-DD73-75BC55CB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5DD47-E08C-618E-63D0-5D9B7AF1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9CD0B-7841-43F1-E6A8-E1A81EFF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60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B487-2BF3-E2F3-A6B4-18F203F3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15F94-C326-969D-D5E2-DAE099D3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82576-6E9E-B2CC-AFEC-64DE5D01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685A2-9C0B-661B-BFEF-CA3D7104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F1022-BD11-109C-84A8-C13D798E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844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5AD49-9026-CA61-510F-6E482F840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EE076-F4FB-E796-4A2A-B48E8594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D2D5-9608-ED76-63AB-1C440E10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CF11B-FA73-B783-C351-359764C4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7061-241A-6591-E92B-35D4C9F9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18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CB49D0-FDD8-B9FC-6B62-04B25298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D73A-E66E-E6C5-99F9-6FD638DF6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C3ABC-A389-5D86-51ED-EBC440A9A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96589-F1C5-439F-AE73-F66D84D540D0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4DFA-286F-9A1E-6633-1F04C040D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F63B-FF9E-6DCB-EED1-417FBEA5E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6A02B-7DB7-4A55-998A-EFFBE54B6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8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2BFF-4CAE-BD20-E9DB-81A36AF3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6"/>
            <a:ext cx="10400071" cy="12585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/>
              <a:t>PROJECT NAME :-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AUTOMATIC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INVOICE</a:t>
            </a:r>
            <a:r>
              <a:rPr lang="en-US" dirty="0">
                <a:solidFill>
                  <a:srgbClr val="FF0000"/>
                </a:solidFill>
              </a:rPr>
              <a:t>              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GENERATOR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BD1CF1-B6A6-37BA-2FD1-3BE3561FF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3935"/>
            <a:ext cx="10515600" cy="406302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automate the invoice generation process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reduce manual work and billing errors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manage customer and product records efficiently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generate PDF invoices and send them via email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store data securely using JSON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provide customer purchase insights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ensure accurate data through input </a:t>
            </a:r>
            <a:r>
              <a:rPr lang="en-US" b="1" spc="50" dirty="0" err="1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validiation</a:t>
            </a:r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r>
              <a:rPr 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To develop a simple and user-friendly billing system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5737AD-25C0-0E93-1B18-7FF8C7C0502C}"/>
              </a:ext>
            </a:extLst>
          </p:cNvPr>
          <p:cNvCxnSpPr>
            <a:cxnSpLocks/>
          </p:cNvCxnSpPr>
          <p:nvPr/>
        </p:nvCxnSpPr>
        <p:spPr>
          <a:xfrm>
            <a:off x="4827639" y="776750"/>
            <a:ext cx="5270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BAA8DB-58B4-DB07-924A-5D0600B164C5}"/>
              </a:ext>
            </a:extLst>
          </p:cNvPr>
          <p:cNvCxnSpPr>
            <a:cxnSpLocks/>
          </p:cNvCxnSpPr>
          <p:nvPr/>
        </p:nvCxnSpPr>
        <p:spPr>
          <a:xfrm>
            <a:off x="973394" y="1268361"/>
            <a:ext cx="27628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7EFB163-05D0-389F-E297-A838E4855DC3}"/>
              </a:ext>
            </a:extLst>
          </p:cNvPr>
          <p:cNvSpPr/>
          <p:nvPr/>
        </p:nvSpPr>
        <p:spPr>
          <a:xfrm>
            <a:off x="838199" y="1548581"/>
            <a:ext cx="10400071" cy="4227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PROJECT OBJECTIVE</a:t>
            </a:r>
            <a:endParaRPr lang="en-IN" sz="3200" dirty="0"/>
          </a:p>
        </p:txBody>
      </p:sp>
      <p:pic>
        <p:nvPicPr>
          <p:cNvPr id="21" name="Graphic 20" descr="Bullseye with solid fill">
            <a:extLst>
              <a:ext uri="{FF2B5EF4-FFF2-40B4-BE49-F238E27FC236}">
                <a16:creationId xmlns:a16="http://schemas.microsoft.com/office/drawing/2014/main" id="{387B5B2E-D5F3-3CD8-24FB-695207F2B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-894734" y="1698521"/>
            <a:ext cx="149943" cy="14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9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17BD-CFA6-0FAE-200E-41EDD7BD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336962"/>
            <a:ext cx="10515600" cy="128669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TESTING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73BFF-01E9-CCC2-1B97-24D028091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730477"/>
            <a:ext cx="10606548" cy="396286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r>
              <a:rPr lang="en-US" dirty="0"/>
              <a:t>Customer management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Product management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Invoice generation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Search module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3A7D3A-E765-E4E7-0CB4-2154EFEA0A42}"/>
              </a:ext>
            </a:extLst>
          </p:cNvPr>
          <p:cNvSpPr/>
          <p:nvPr/>
        </p:nvSpPr>
        <p:spPr>
          <a:xfrm>
            <a:off x="2910348" y="80968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A95C1-4A1A-7454-5607-3D06ACFA7CB0}"/>
              </a:ext>
            </a:extLst>
          </p:cNvPr>
          <p:cNvSpPr/>
          <p:nvPr/>
        </p:nvSpPr>
        <p:spPr>
          <a:xfrm>
            <a:off x="759542" y="336962"/>
            <a:ext cx="10672916" cy="10985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TESTING MODULES</a:t>
            </a:r>
            <a:endParaRPr lang="en-IN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EBA4-F578-271B-D483-1A98E51BD8E0}"/>
              </a:ext>
            </a:extLst>
          </p:cNvPr>
          <p:cNvCxnSpPr/>
          <p:nvPr/>
        </p:nvCxnSpPr>
        <p:spPr>
          <a:xfrm>
            <a:off x="1052052" y="2163097"/>
            <a:ext cx="35396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870053-D4C4-73B0-3EB1-0DA63C8B1FBF}"/>
              </a:ext>
            </a:extLst>
          </p:cNvPr>
          <p:cNvCxnSpPr/>
          <p:nvPr/>
        </p:nvCxnSpPr>
        <p:spPr>
          <a:xfrm>
            <a:off x="1052052" y="3136490"/>
            <a:ext cx="31856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D72176-2E66-171B-71D9-549274F32A11}"/>
              </a:ext>
            </a:extLst>
          </p:cNvPr>
          <p:cNvCxnSpPr/>
          <p:nvPr/>
        </p:nvCxnSpPr>
        <p:spPr>
          <a:xfrm>
            <a:off x="1052052" y="4168877"/>
            <a:ext cx="26645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EB5547-7031-278C-CFD5-135203FE0A85}"/>
              </a:ext>
            </a:extLst>
          </p:cNvPr>
          <p:cNvCxnSpPr/>
          <p:nvPr/>
        </p:nvCxnSpPr>
        <p:spPr>
          <a:xfrm>
            <a:off x="1052052" y="5191432"/>
            <a:ext cx="22810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948C36B-07A6-8863-E67A-6C1789BFC335}"/>
              </a:ext>
            </a:extLst>
          </p:cNvPr>
          <p:cNvSpPr/>
          <p:nvPr/>
        </p:nvSpPr>
        <p:spPr>
          <a:xfrm>
            <a:off x="668594" y="1666567"/>
            <a:ext cx="4444180" cy="6440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5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2F1B-CC4B-DEA2-576F-F56B652C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70619"/>
            <a:ext cx="10274864" cy="853614"/>
          </a:xfrm>
        </p:spPr>
        <p:txBody>
          <a:bodyPr/>
          <a:lstStyle/>
          <a:p>
            <a:r>
              <a:rPr lang="en-US" dirty="0"/>
              <a:t>TEST CASES   </a:t>
            </a:r>
            <a:endParaRPr lang="en-IN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73C64CF-F843-C293-2A9E-C41DD1D3A6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971328"/>
              </p:ext>
            </p:extLst>
          </p:nvPr>
        </p:nvGraphicFramePr>
        <p:xfrm>
          <a:off x="5481638" y="3241675"/>
          <a:ext cx="12271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6997" imgH="373301" progId="Excel.Sheet.12">
                  <p:embed/>
                </p:oleObj>
              </mc:Choice>
              <mc:Fallback>
                <p:oleObj name="Worksheet" r:id="rId2" imgW="1226997" imgH="373301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73C64CF-F843-C293-2A9E-C41DD1D3A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1638" y="3241675"/>
                        <a:ext cx="1227137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DE0CAFB8-89CE-7850-A5AA-6E75717C68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049809"/>
              </p:ext>
            </p:extLst>
          </p:nvPr>
        </p:nvGraphicFramePr>
        <p:xfrm>
          <a:off x="464574" y="1545021"/>
          <a:ext cx="10832690" cy="501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374">
                  <a:extLst>
                    <a:ext uri="{9D8B030D-6E8A-4147-A177-3AD203B41FA5}">
                      <a16:colId xmlns:a16="http://schemas.microsoft.com/office/drawing/2014/main" val="460560405"/>
                    </a:ext>
                  </a:extLst>
                </a:gridCol>
                <a:gridCol w="3722493">
                  <a:extLst>
                    <a:ext uri="{9D8B030D-6E8A-4147-A177-3AD203B41FA5}">
                      <a16:colId xmlns:a16="http://schemas.microsoft.com/office/drawing/2014/main" val="3886391080"/>
                    </a:ext>
                  </a:extLst>
                </a:gridCol>
                <a:gridCol w="2971530">
                  <a:extLst>
                    <a:ext uri="{9D8B030D-6E8A-4147-A177-3AD203B41FA5}">
                      <a16:colId xmlns:a16="http://schemas.microsoft.com/office/drawing/2014/main" val="1557954938"/>
                    </a:ext>
                  </a:extLst>
                </a:gridCol>
                <a:gridCol w="1993293">
                  <a:extLst>
                    <a:ext uri="{9D8B030D-6E8A-4147-A177-3AD203B41FA5}">
                      <a16:colId xmlns:a16="http://schemas.microsoft.com/office/drawing/2014/main" val="2282179283"/>
                    </a:ext>
                  </a:extLst>
                </a:gridCol>
              </a:tblGrid>
              <a:tr h="942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CASE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SCENARIO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RESULT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  PASS/FAIL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629284"/>
                  </a:ext>
                </a:extLst>
              </a:tr>
              <a:tr h="7181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customer with valid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847984"/>
                  </a:ext>
                </a:extLst>
              </a:tr>
              <a:tr h="9940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customer with empty mandatory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 message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711921"/>
                  </a:ext>
                </a:extLst>
              </a:tr>
              <a:tr h="6089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customer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Details updated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298209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 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48984"/>
                  </a:ext>
                </a:extLst>
              </a:tr>
              <a:tr h="942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customer 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Displayes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93009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79ED4C8-E1E2-98C5-E541-0673BB219141}"/>
              </a:ext>
            </a:extLst>
          </p:cNvPr>
          <p:cNvSpPr/>
          <p:nvPr/>
        </p:nvSpPr>
        <p:spPr>
          <a:xfrm>
            <a:off x="464574" y="924233"/>
            <a:ext cx="10832691" cy="44245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CUSTOMER</a:t>
            </a:r>
            <a:r>
              <a:rPr lang="en-US" dirty="0"/>
              <a:t>    </a:t>
            </a:r>
            <a:r>
              <a:rPr lang="en-US" sz="2800" dirty="0"/>
              <a:t>MANAGEMENT   </a:t>
            </a:r>
            <a:r>
              <a:rPr lang="en-US" dirty="0"/>
              <a:t> </a:t>
            </a:r>
            <a:r>
              <a:rPr lang="en-US" sz="2800" dirty="0"/>
              <a:t>TEST  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6841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D18B-3127-2408-C503-C06A7196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9EC8BC-D167-D885-219B-7F7E10BC5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972598"/>
              </p:ext>
            </p:extLst>
          </p:nvPr>
        </p:nvGraphicFramePr>
        <p:xfrm>
          <a:off x="399392" y="1198179"/>
          <a:ext cx="11330153" cy="552911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2694">
                  <a:extLst>
                    <a:ext uri="{9D8B030D-6E8A-4147-A177-3AD203B41FA5}">
                      <a16:colId xmlns:a16="http://schemas.microsoft.com/office/drawing/2014/main" val="1936184342"/>
                    </a:ext>
                  </a:extLst>
                </a:gridCol>
                <a:gridCol w="3586630">
                  <a:extLst>
                    <a:ext uri="{9D8B030D-6E8A-4147-A177-3AD203B41FA5}">
                      <a16:colId xmlns:a16="http://schemas.microsoft.com/office/drawing/2014/main" val="3532714974"/>
                    </a:ext>
                  </a:extLst>
                </a:gridCol>
                <a:gridCol w="3815165">
                  <a:extLst>
                    <a:ext uri="{9D8B030D-6E8A-4147-A177-3AD203B41FA5}">
                      <a16:colId xmlns:a16="http://schemas.microsoft.com/office/drawing/2014/main" val="99276610"/>
                    </a:ext>
                  </a:extLst>
                </a:gridCol>
                <a:gridCol w="2325664">
                  <a:extLst>
                    <a:ext uri="{9D8B030D-6E8A-4147-A177-3AD203B41FA5}">
                      <a16:colId xmlns:a16="http://schemas.microsoft.com/office/drawing/2014/main" val="2833058300"/>
                    </a:ext>
                  </a:extLst>
                </a:gridCol>
              </a:tblGrid>
              <a:tr h="10686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 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 new 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added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367688"/>
                  </a:ext>
                </a:extLst>
              </a:tr>
              <a:tr h="9641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prize is negative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251952"/>
                  </a:ext>
                </a:extLst>
              </a:tr>
              <a:tr h="9467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product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Updated successfully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49212"/>
                  </a:ext>
                </a:extLst>
              </a:tr>
              <a:tr h="12456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product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</a:t>
                      </a:r>
                      <a:r>
                        <a:rPr lang="en-US" dirty="0" err="1"/>
                        <a:t>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13306"/>
                  </a:ext>
                </a:extLst>
              </a:tr>
              <a:tr h="1303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product 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Displayed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42140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7B85CE4-8190-98D2-5428-8C551925B171}"/>
              </a:ext>
            </a:extLst>
          </p:cNvPr>
          <p:cNvSpPr/>
          <p:nvPr/>
        </p:nvSpPr>
        <p:spPr>
          <a:xfrm>
            <a:off x="399392" y="139152"/>
            <a:ext cx="11330153" cy="7647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PRODUCT MANAGEMENT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5581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6C13-F1B2-8736-7B38-2793C0BF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B295C9-7236-8A58-F854-2893E54A3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210708"/>
              </p:ext>
            </p:extLst>
          </p:nvPr>
        </p:nvGraphicFramePr>
        <p:xfrm>
          <a:off x="491612" y="1219200"/>
          <a:ext cx="10862185" cy="55578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9969">
                  <a:extLst>
                    <a:ext uri="{9D8B030D-6E8A-4147-A177-3AD203B41FA5}">
                      <a16:colId xmlns:a16="http://schemas.microsoft.com/office/drawing/2014/main" val="4208414536"/>
                    </a:ext>
                  </a:extLst>
                </a:gridCol>
                <a:gridCol w="2694072">
                  <a:extLst>
                    <a:ext uri="{9D8B030D-6E8A-4147-A177-3AD203B41FA5}">
                      <a16:colId xmlns:a16="http://schemas.microsoft.com/office/drawing/2014/main" val="305267077"/>
                    </a:ext>
                  </a:extLst>
                </a:gridCol>
                <a:gridCol w="2694072">
                  <a:extLst>
                    <a:ext uri="{9D8B030D-6E8A-4147-A177-3AD203B41FA5}">
                      <a16:colId xmlns:a16="http://schemas.microsoft.com/office/drawing/2014/main" val="1484369809"/>
                    </a:ext>
                  </a:extLst>
                </a:gridCol>
                <a:gridCol w="2694072">
                  <a:extLst>
                    <a:ext uri="{9D8B030D-6E8A-4147-A177-3AD203B41FA5}">
                      <a16:colId xmlns:a16="http://schemas.microsoft.com/office/drawing/2014/main" val="1544085461"/>
                    </a:ext>
                  </a:extLst>
                </a:gridCol>
              </a:tblGrid>
              <a:tr h="11319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TC11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invoice with valid customer and product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Generates </a:t>
                      </a:r>
                      <a:r>
                        <a:rPr lang="en-US" dirty="0" err="1"/>
                        <a:t>sucessfully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20944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invoice without customer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584861"/>
                  </a:ext>
                </a:extLst>
              </a:tr>
              <a:tr h="8707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Generate invoice without product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0745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GST/TAX calculation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calculation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15281"/>
                  </a:ext>
                </a:extLst>
              </a:tr>
              <a:tr h="609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total amount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Correct amount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95536"/>
                  </a:ext>
                </a:extLst>
              </a:tr>
              <a:tr h="6520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Saved </a:t>
                      </a:r>
                      <a:r>
                        <a:rPr lang="en-US" dirty="0" err="1"/>
                        <a:t>ssuccesfully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767648"/>
                  </a:ext>
                </a:extLst>
              </a:tr>
              <a:tr h="8824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Printed </a:t>
                      </a:r>
                      <a:r>
                        <a:rPr lang="en-US" dirty="0" err="1"/>
                        <a:t>succesfully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15894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ABD47D5-37D3-F168-B4A5-6B760FECF5A5}"/>
              </a:ext>
            </a:extLst>
          </p:cNvPr>
          <p:cNvSpPr/>
          <p:nvPr/>
        </p:nvSpPr>
        <p:spPr>
          <a:xfrm>
            <a:off x="491613" y="273269"/>
            <a:ext cx="10862186" cy="5675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INVOICE GENERATION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2259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D6AB9-3A2D-AA9B-E196-BBBCE09F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780714-BDA6-9AD8-802B-192B92D162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91073"/>
              </p:ext>
            </p:extLst>
          </p:nvPr>
        </p:nvGraphicFramePr>
        <p:xfrm>
          <a:off x="838200" y="1156138"/>
          <a:ext cx="10515600" cy="536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04595">
                  <a:extLst>
                    <a:ext uri="{9D8B030D-6E8A-4147-A177-3AD203B41FA5}">
                      <a16:colId xmlns:a16="http://schemas.microsoft.com/office/drawing/2014/main" val="2892021412"/>
                    </a:ext>
                  </a:extLst>
                </a:gridCol>
                <a:gridCol w="2653205">
                  <a:extLst>
                    <a:ext uri="{9D8B030D-6E8A-4147-A177-3AD203B41FA5}">
                      <a16:colId xmlns:a16="http://schemas.microsoft.com/office/drawing/2014/main" val="34350893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619039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63991180"/>
                    </a:ext>
                  </a:extLst>
                </a:gridCol>
              </a:tblGrid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TC20</a:t>
                      </a:r>
                    </a:p>
                    <a:p>
                      <a:pPr algn="ctr"/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customer  by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884679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customer by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820435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Search product by id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881725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search product by name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displayed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29597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invalid keyword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result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93761"/>
                  </a:ext>
                </a:extLst>
              </a:tr>
              <a:tr h="8894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TC25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with empty field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result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65826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14133E-C0B3-AD1E-D5B3-071EA2913CA5}"/>
              </a:ext>
            </a:extLst>
          </p:cNvPr>
          <p:cNvSpPr/>
          <p:nvPr/>
        </p:nvSpPr>
        <p:spPr>
          <a:xfrm>
            <a:off x="838200" y="365125"/>
            <a:ext cx="10515600" cy="5597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SEARCH MODULE TEST CASES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563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283</Words>
  <Application>Microsoft Office PowerPoint</Application>
  <PresentationFormat>Widescreen</PresentationFormat>
  <Paragraphs>121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Worksheet</vt:lpstr>
      <vt:lpstr>PROJECT NAME :- AUTOMATIC INVOICE               GENERATOR</vt:lpstr>
      <vt:lpstr>TESTING MODULE</vt:lpstr>
      <vt:lpstr>TEST CASES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ladhesonal4@outlook.com</dc:creator>
  <cp:lastModifiedBy>ladhesonal4@outlook.com</cp:lastModifiedBy>
  <cp:revision>2</cp:revision>
  <dcterms:created xsi:type="dcterms:W3CDTF">2026-07-02T04:25:44Z</dcterms:created>
  <dcterms:modified xsi:type="dcterms:W3CDTF">2026-07-05T09:56:40Z</dcterms:modified>
</cp:coreProperties>
</file>