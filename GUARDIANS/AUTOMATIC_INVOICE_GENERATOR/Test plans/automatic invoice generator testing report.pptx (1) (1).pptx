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8235" autoAdjust="0"/>
  </p:normalViewPr>
  <p:slideViewPr>
    <p:cSldViewPr snapToGrid="0">
      <p:cViewPr varScale="1">
        <p:scale>
          <a:sx n="73" d="100"/>
          <a:sy n="73" d="100"/>
        </p:scale>
        <p:origin x="107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62997D-337E-430A-B8E6-50D7125AF332}" type="datetimeFigureOut">
              <a:rPr lang="en-IN" smtClean="0"/>
              <a:t>05-07-2026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01D05A-03EA-4597-82A1-035CA16F79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33930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1D05A-03EA-4597-82A1-035CA16F79F6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05256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8BD4A-F16F-5AA8-4595-1033520E94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0E15DC-5E5C-03E4-E37A-F33D9DC224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09FD7-10A3-AD35-E956-819C6544C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96589-F1C5-439F-AE73-F66D84D540D0}" type="datetimeFigureOut">
              <a:rPr lang="en-IN" smtClean="0"/>
              <a:t>05-07-2026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DBC14-4856-C49F-36CA-A650C5C46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0AC0D-05B1-53B3-E2B0-FC9BB1AA9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6A02B-7DB7-4A55-998A-EFFBE54B66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11582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A078B-8FB3-A3A1-BCD0-8FB34F5D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4E6E9-E94A-CE6E-B6AE-04A7C4631B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A7DAA-AF31-39B3-BA7B-D82BB561A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96589-F1C5-439F-AE73-F66D84D540D0}" type="datetimeFigureOut">
              <a:rPr lang="en-IN" smtClean="0"/>
              <a:t>05-07-2026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9E5C9-BC2D-8932-35D9-26F6DC8C3A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047B1-D759-5FD7-F516-ED52A9920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6A02B-7DB7-4A55-998A-EFFBE54B66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3838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DC913-980C-5368-3279-4B35538C3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19C61B-1358-580B-E811-353041CA2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DF193F-EA51-8DE1-8711-A038CD6DA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96589-F1C5-439F-AE73-F66D84D540D0}" type="datetimeFigureOut">
              <a:rPr lang="en-IN" smtClean="0"/>
              <a:t>05-07-2026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D57EB9-3F89-3541-4270-41D1BE9F0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501300-6D9A-F0EA-CB23-7BBA8B02A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6A02B-7DB7-4A55-998A-EFFBE54B66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0591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A6E17-E4AF-632B-8E47-5EFBF3EF9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264F3-8EAD-C643-A8DF-775769004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E02574-E6F0-334D-0A00-CA026AE020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97CD6-BDF9-0965-0D1E-330A594C3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96589-F1C5-439F-AE73-F66D84D540D0}" type="datetimeFigureOut">
              <a:rPr lang="en-IN" smtClean="0"/>
              <a:t>05-07-2026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D2D141-BEDD-92A7-995D-857959A73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8295F8-1634-6FB8-D753-F73CDD0E2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6A02B-7DB7-4A55-998A-EFFBE54B66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7167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861B1-9CA9-66A3-3CC7-9D8421991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2EC88F-86E9-9950-23F3-154CB4E64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609DEB-1280-3164-B1DE-60FEDE41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F3CB3D-909E-2E6D-1F3E-A3681AFE7C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0C9809-BCF3-B5A8-E2CF-90C69C41BB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F6DEB4-ADC6-9A5D-ED19-462B44E14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96589-F1C5-439F-AE73-F66D84D540D0}" type="datetimeFigureOut">
              <a:rPr lang="en-IN" smtClean="0"/>
              <a:t>05-07-2026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8CA3B5-439D-F80F-6D34-B7922DC84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06FD16-C569-B8AC-DBCB-92BFE1D21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6A02B-7DB7-4A55-998A-EFFBE54B66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0356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12977-AD6D-55EF-EB7D-DCCAFA0C1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3A9A9C-EC43-583B-60BB-CDC0EC8C7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96589-F1C5-439F-AE73-F66D84D540D0}" type="datetimeFigureOut">
              <a:rPr lang="en-IN" smtClean="0"/>
              <a:t>05-07-2026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937C14-7802-B0BF-02FD-EF9341629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1109B7-93E9-515E-6CA8-2D78C26AF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6A02B-7DB7-4A55-998A-EFFBE54B66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916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F14CAF-412A-D9C3-918B-049F9E72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96589-F1C5-439F-AE73-F66D84D540D0}" type="datetimeFigureOut">
              <a:rPr lang="en-IN" smtClean="0"/>
              <a:t>05-07-2026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3939AC-98D9-59D3-F1D1-9023D1DB6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E9B49-21E1-0065-1B6B-EB7551A7A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6A02B-7DB7-4A55-998A-EFFBE54B66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4746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2A724-1780-F51C-414E-E358CF695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2D487-A578-97E8-4129-2AE6D7DBAD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4A9752-6025-4150-C79C-AD22E230E7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0D33A-08F6-3207-8EA8-04B0E7B64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96589-F1C5-439F-AE73-F66D84D540D0}" type="datetimeFigureOut">
              <a:rPr lang="en-IN" smtClean="0"/>
              <a:t>05-07-2026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EABB47-AC06-8D1B-8A86-BA7759526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C425DC-9B83-3755-C0DA-045A038EB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6A02B-7DB7-4A55-998A-EFFBE54B66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04655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14E45-1D55-E37A-A85C-849805F92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A27664-E39D-EE23-D28E-FFC78A01A8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6EC3CE-8D74-2936-9F49-70D34F90B9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070F36-DDDB-E641-DD73-75BC55CB8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96589-F1C5-439F-AE73-F66D84D540D0}" type="datetimeFigureOut">
              <a:rPr lang="en-IN" smtClean="0"/>
              <a:t>05-07-2026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85DD47-E08C-618E-63D0-5D9B7AF1B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F9CD0B-7841-43F1-E6A8-E1A81EFFC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6A02B-7DB7-4A55-998A-EFFBE54B66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9601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4B487-2BF3-E2F3-A6B4-18F203F35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E15F94-C326-969D-D5E2-DAE099D386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D82576-6E9E-B2CC-AFEC-64DE5D018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96589-F1C5-439F-AE73-F66D84D540D0}" type="datetimeFigureOut">
              <a:rPr lang="en-IN" smtClean="0"/>
              <a:t>05-07-2026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B685A2-9C0B-661B-BFEF-CA3D7104D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F1022-BD11-109C-84A8-C13D798EA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6A02B-7DB7-4A55-998A-EFFBE54B66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9844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D5AD49-9026-CA61-510F-6E482F8408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FEE076-F4FB-E796-4A2A-B48E8594C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64D2D5-9608-ED76-63AB-1C440E108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96589-F1C5-439F-AE73-F66D84D540D0}" type="datetimeFigureOut">
              <a:rPr lang="en-IN" smtClean="0"/>
              <a:t>05-07-2026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CF11B-FA73-B783-C351-359764C4D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D57061-241A-6591-E92B-35D4C9F9B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6A02B-7DB7-4A55-998A-EFFBE54B66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87187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CB49D0-FDD8-B9FC-6B62-04B252986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1CD73A-E66E-E6C5-99F9-6FD638DF66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4C3ABC-A389-5D86-51ED-EBC440A9AB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496589-F1C5-439F-AE73-F66D84D540D0}" type="datetimeFigureOut">
              <a:rPr lang="en-IN" smtClean="0"/>
              <a:t>05-07-2026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4B4DFA-286F-9A1E-6633-1F04C040DC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66F63B-FF9E-6DCB-EED1-417FBEA5E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A6A02B-7DB7-4A55-998A-EFFBE54B66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34805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B2BFF-4CAE-BD20-E9DB-81A36AF3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7486"/>
            <a:ext cx="10400071" cy="1258528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rmAutofit fontScale="90000"/>
          </a:bodyPr>
          <a:lstStyle/>
          <a:p>
            <a:r>
              <a:rPr lang="en-US" dirty="0"/>
              <a:t>PROJECT NAME :- </a:t>
            </a: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AUTOMATIC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INVOICE</a:t>
            </a:r>
            <a:r>
              <a:rPr lang="en-US" dirty="0">
                <a:solidFill>
                  <a:srgbClr val="FF0000"/>
                </a:solidFill>
              </a:rPr>
              <a:t>               </a:t>
            </a: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GENERATOR</a:t>
            </a:r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E3BD1CF1-B6A6-37BA-2FD1-3BE3561FFF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13935"/>
            <a:ext cx="10515600" cy="4063028"/>
          </a:xfr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r>
              <a:rPr lang="en-US" b="1" spc="50" dirty="0">
                <a:ln w="0"/>
                <a:solidFill>
                  <a:schemeClr val="bg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To automate the invoice generation process</a:t>
            </a:r>
          </a:p>
          <a:p>
            <a:r>
              <a:rPr lang="en-US" b="1" spc="50" dirty="0">
                <a:ln w="0"/>
                <a:solidFill>
                  <a:schemeClr val="bg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To reduce manual work and billing errors</a:t>
            </a:r>
          </a:p>
          <a:p>
            <a:r>
              <a:rPr lang="en-US" b="1" spc="50" dirty="0">
                <a:ln w="0"/>
                <a:solidFill>
                  <a:schemeClr val="bg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To manage customer and product records efficiently</a:t>
            </a:r>
          </a:p>
          <a:p>
            <a:r>
              <a:rPr lang="en-US" b="1" spc="50" dirty="0">
                <a:ln w="0"/>
                <a:solidFill>
                  <a:schemeClr val="bg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To generate PDF invoices and send them via email</a:t>
            </a:r>
          </a:p>
          <a:p>
            <a:r>
              <a:rPr lang="en-US" b="1" spc="50" dirty="0">
                <a:ln w="0"/>
                <a:solidFill>
                  <a:schemeClr val="bg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To store data securely using JSON</a:t>
            </a:r>
          </a:p>
          <a:p>
            <a:r>
              <a:rPr lang="en-US" b="1" spc="50" dirty="0">
                <a:ln w="0"/>
                <a:solidFill>
                  <a:schemeClr val="bg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To provide customer purchase insights</a:t>
            </a:r>
          </a:p>
          <a:p>
            <a:r>
              <a:rPr lang="en-US" b="1" spc="50" dirty="0">
                <a:ln w="0"/>
                <a:solidFill>
                  <a:schemeClr val="bg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To ensure accurate data through input </a:t>
            </a:r>
            <a:r>
              <a:rPr lang="en-US" b="1" spc="50" dirty="0" err="1">
                <a:ln w="0"/>
                <a:solidFill>
                  <a:schemeClr val="bg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validiation</a:t>
            </a:r>
            <a:r>
              <a:rPr lang="en-US" b="1" spc="50" dirty="0">
                <a:ln w="0"/>
                <a:solidFill>
                  <a:schemeClr val="bg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</a:t>
            </a:r>
          </a:p>
          <a:p>
            <a:r>
              <a:rPr lang="en-US" b="1" spc="50" dirty="0">
                <a:ln w="0"/>
                <a:solidFill>
                  <a:schemeClr val="bg1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To develop a simple and user-friendly billing system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5737AD-25C0-0E93-1B18-7FF8C7C0502C}"/>
              </a:ext>
            </a:extLst>
          </p:cNvPr>
          <p:cNvCxnSpPr>
            <a:cxnSpLocks/>
          </p:cNvCxnSpPr>
          <p:nvPr/>
        </p:nvCxnSpPr>
        <p:spPr>
          <a:xfrm>
            <a:off x="4827639" y="776750"/>
            <a:ext cx="527009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3BAA8DB-58B4-DB07-924A-5D0600B164C5}"/>
              </a:ext>
            </a:extLst>
          </p:cNvPr>
          <p:cNvCxnSpPr>
            <a:cxnSpLocks/>
          </p:cNvCxnSpPr>
          <p:nvPr/>
        </p:nvCxnSpPr>
        <p:spPr>
          <a:xfrm>
            <a:off x="973394" y="1268361"/>
            <a:ext cx="276286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7EFB163-05D0-389F-E297-A838E4855DC3}"/>
              </a:ext>
            </a:extLst>
          </p:cNvPr>
          <p:cNvSpPr/>
          <p:nvPr/>
        </p:nvSpPr>
        <p:spPr>
          <a:xfrm>
            <a:off x="838199" y="1548581"/>
            <a:ext cx="10400071" cy="42278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/>
              <a:t>PROJECT OBJECTIVE</a:t>
            </a:r>
            <a:endParaRPr lang="en-IN" sz="3200" dirty="0"/>
          </a:p>
        </p:txBody>
      </p:sp>
      <p:pic>
        <p:nvPicPr>
          <p:cNvPr id="21" name="Graphic 20" descr="Bullseye with solid fill">
            <a:extLst>
              <a:ext uri="{FF2B5EF4-FFF2-40B4-BE49-F238E27FC236}">
                <a16:creationId xmlns:a16="http://schemas.microsoft.com/office/drawing/2014/main" id="{387B5B2E-D5F3-3CD8-24FB-695207F2BF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-894734" y="1698521"/>
            <a:ext cx="149943" cy="149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191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517BD-CFA6-0FAE-200E-41EDD7BD2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542" y="336962"/>
            <a:ext cx="10515600" cy="1286694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TESTING MODULE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E73BFF-01E9-CCC2-1B97-24D028091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594" y="1730477"/>
            <a:ext cx="10606548" cy="3962861"/>
          </a:xfr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/>
          <a:lstStyle/>
          <a:p>
            <a:r>
              <a:rPr lang="en-US" dirty="0"/>
              <a:t>Customer management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Product management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Invoice generation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Search module</a:t>
            </a:r>
          </a:p>
          <a:p>
            <a:pPr marL="0" indent="0">
              <a:buNone/>
            </a:pPr>
            <a:endParaRPr lang="en-US" dirty="0"/>
          </a:p>
          <a:p>
            <a:endParaRPr lang="en-IN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3A7D3A-E765-E4E7-0CB4-2154EFEA0A42}"/>
              </a:ext>
            </a:extLst>
          </p:cNvPr>
          <p:cNvSpPr/>
          <p:nvPr/>
        </p:nvSpPr>
        <p:spPr>
          <a:xfrm>
            <a:off x="2910348" y="809687"/>
            <a:ext cx="45719" cy="45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7A95C1-4A1A-7454-5607-3D06ACFA7CB0}"/>
              </a:ext>
            </a:extLst>
          </p:cNvPr>
          <p:cNvSpPr/>
          <p:nvPr/>
        </p:nvSpPr>
        <p:spPr>
          <a:xfrm>
            <a:off x="759542" y="336962"/>
            <a:ext cx="10672916" cy="109854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TESTING MODULES</a:t>
            </a:r>
            <a:endParaRPr lang="en-IN" sz="4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2B0EBA4-F578-271B-D483-1A98E51BD8E0}"/>
              </a:ext>
            </a:extLst>
          </p:cNvPr>
          <p:cNvCxnSpPr/>
          <p:nvPr/>
        </p:nvCxnSpPr>
        <p:spPr>
          <a:xfrm>
            <a:off x="1052052" y="2163097"/>
            <a:ext cx="35396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870053-D4C4-73B0-3EB1-0DA63C8B1FBF}"/>
              </a:ext>
            </a:extLst>
          </p:cNvPr>
          <p:cNvCxnSpPr/>
          <p:nvPr/>
        </p:nvCxnSpPr>
        <p:spPr>
          <a:xfrm>
            <a:off x="1052052" y="3136490"/>
            <a:ext cx="318565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7D72176-2E66-171B-71D9-549274F32A11}"/>
              </a:ext>
            </a:extLst>
          </p:cNvPr>
          <p:cNvCxnSpPr/>
          <p:nvPr/>
        </p:nvCxnSpPr>
        <p:spPr>
          <a:xfrm>
            <a:off x="1052052" y="4168877"/>
            <a:ext cx="266454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7EB5547-7031-278C-CFD5-135203FE0A85}"/>
              </a:ext>
            </a:extLst>
          </p:cNvPr>
          <p:cNvCxnSpPr/>
          <p:nvPr/>
        </p:nvCxnSpPr>
        <p:spPr>
          <a:xfrm>
            <a:off x="1052052" y="5191432"/>
            <a:ext cx="228108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3948C36B-07A6-8863-E67A-6C1789BFC335}"/>
              </a:ext>
            </a:extLst>
          </p:cNvPr>
          <p:cNvSpPr/>
          <p:nvPr/>
        </p:nvSpPr>
        <p:spPr>
          <a:xfrm>
            <a:off x="668594" y="1666567"/>
            <a:ext cx="4444180" cy="64401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74504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02F1B-CC4B-DEA2-576F-F56B652C2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574" y="70619"/>
            <a:ext cx="10274864" cy="853614"/>
          </a:xfrm>
        </p:spPr>
        <p:txBody>
          <a:bodyPr/>
          <a:lstStyle/>
          <a:p>
            <a:r>
              <a:rPr lang="en-US" dirty="0"/>
              <a:t>TEST CASES   </a:t>
            </a:r>
            <a:endParaRPr lang="en-IN" dirty="0"/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973C64CF-F843-C293-2A9E-C41DD1D3A6F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9971328"/>
              </p:ext>
            </p:extLst>
          </p:nvPr>
        </p:nvGraphicFramePr>
        <p:xfrm>
          <a:off x="5481638" y="3241675"/>
          <a:ext cx="1227137" cy="3730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226997" imgH="373301" progId="Excel.Sheet.12">
                  <p:embed/>
                </p:oleObj>
              </mc:Choice>
              <mc:Fallback>
                <p:oleObj name="Worksheet" r:id="rId2" imgW="1226997" imgH="373301" progId="Excel.Sheet.12">
                  <p:embed/>
                  <p:pic>
                    <p:nvPicPr>
                      <p:cNvPr id="5" name="Object 4">
                        <a:extLst>
                          <a:ext uri="{FF2B5EF4-FFF2-40B4-BE49-F238E27FC236}">
                            <a16:creationId xmlns:a16="http://schemas.microsoft.com/office/drawing/2014/main" id="{973C64CF-F843-C293-2A9E-C41DD1D3A6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481638" y="3241675"/>
                        <a:ext cx="1227137" cy="3730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Content Placeholder 19">
            <a:extLst>
              <a:ext uri="{FF2B5EF4-FFF2-40B4-BE49-F238E27FC236}">
                <a16:creationId xmlns:a16="http://schemas.microsoft.com/office/drawing/2014/main" id="{DE0CAFB8-89CE-7850-A5AA-6E75717C68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51049809"/>
              </p:ext>
            </p:extLst>
          </p:nvPr>
        </p:nvGraphicFramePr>
        <p:xfrm>
          <a:off x="464574" y="1545021"/>
          <a:ext cx="10832690" cy="50134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374">
                  <a:extLst>
                    <a:ext uri="{9D8B030D-6E8A-4147-A177-3AD203B41FA5}">
                      <a16:colId xmlns:a16="http://schemas.microsoft.com/office/drawing/2014/main" val="460560405"/>
                    </a:ext>
                  </a:extLst>
                </a:gridCol>
                <a:gridCol w="3722493">
                  <a:extLst>
                    <a:ext uri="{9D8B030D-6E8A-4147-A177-3AD203B41FA5}">
                      <a16:colId xmlns:a16="http://schemas.microsoft.com/office/drawing/2014/main" val="3886391080"/>
                    </a:ext>
                  </a:extLst>
                </a:gridCol>
                <a:gridCol w="2971530">
                  <a:extLst>
                    <a:ext uri="{9D8B030D-6E8A-4147-A177-3AD203B41FA5}">
                      <a16:colId xmlns:a16="http://schemas.microsoft.com/office/drawing/2014/main" val="1557954938"/>
                    </a:ext>
                  </a:extLst>
                </a:gridCol>
                <a:gridCol w="1993293">
                  <a:extLst>
                    <a:ext uri="{9D8B030D-6E8A-4147-A177-3AD203B41FA5}">
                      <a16:colId xmlns:a16="http://schemas.microsoft.com/office/drawing/2014/main" val="2282179283"/>
                    </a:ext>
                  </a:extLst>
                </a:gridCol>
              </a:tblGrid>
              <a:tr h="94284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 CASE ID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 SCENARIO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EXPECTED RESULT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  PASS/FAIL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629284"/>
                  </a:ext>
                </a:extLst>
              </a:tr>
              <a:tr h="71819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TC01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Add customer with valid details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Customer added successfully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5847984"/>
                  </a:ext>
                </a:extLst>
              </a:tr>
              <a:tr h="99403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TC02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Add customer with empty mandatory details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Error message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711921"/>
                  </a:ext>
                </a:extLst>
              </a:tr>
              <a:tr h="60891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TC03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Edit customer details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Details updated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5298209"/>
                  </a:ext>
                </a:extLst>
              </a:tr>
              <a:tr h="80660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 04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Delete customer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Deleted </a:t>
                      </a:r>
                      <a:r>
                        <a:rPr lang="en-US" dirty="0" err="1"/>
                        <a:t>sucessfully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0748984"/>
                  </a:ext>
                </a:extLst>
              </a:tr>
              <a:tr h="94284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TC05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Display customer list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Displayes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sucessfully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9930099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79ED4C8-E1E2-98C5-E541-0673BB219141}"/>
              </a:ext>
            </a:extLst>
          </p:cNvPr>
          <p:cNvSpPr/>
          <p:nvPr/>
        </p:nvSpPr>
        <p:spPr>
          <a:xfrm>
            <a:off x="464574" y="924233"/>
            <a:ext cx="10832691" cy="44245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/>
              <a:t>CUSTOMER</a:t>
            </a:r>
            <a:r>
              <a:rPr lang="en-US" dirty="0"/>
              <a:t>    </a:t>
            </a:r>
            <a:r>
              <a:rPr lang="en-US" sz="2800" dirty="0"/>
              <a:t>MANAGEMENT   </a:t>
            </a:r>
            <a:r>
              <a:rPr lang="en-US" dirty="0"/>
              <a:t> </a:t>
            </a:r>
            <a:r>
              <a:rPr lang="en-US" sz="2800" dirty="0"/>
              <a:t>TEST   CASES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216841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6D18B-3127-2408-C503-C06A71964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09EC8BC-D167-D885-219B-7F7E10BC58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72106459"/>
              </p:ext>
            </p:extLst>
          </p:nvPr>
        </p:nvGraphicFramePr>
        <p:xfrm>
          <a:off x="399392" y="1198180"/>
          <a:ext cx="11330153" cy="529469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02694">
                  <a:extLst>
                    <a:ext uri="{9D8B030D-6E8A-4147-A177-3AD203B41FA5}">
                      <a16:colId xmlns:a16="http://schemas.microsoft.com/office/drawing/2014/main" val="1936184342"/>
                    </a:ext>
                  </a:extLst>
                </a:gridCol>
                <a:gridCol w="3586630">
                  <a:extLst>
                    <a:ext uri="{9D8B030D-6E8A-4147-A177-3AD203B41FA5}">
                      <a16:colId xmlns:a16="http://schemas.microsoft.com/office/drawing/2014/main" val="3532714974"/>
                    </a:ext>
                  </a:extLst>
                </a:gridCol>
                <a:gridCol w="3815165">
                  <a:extLst>
                    <a:ext uri="{9D8B030D-6E8A-4147-A177-3AD203B41FA5}">
                      <a16:colId xmlns:a16="http://schemas.microsoft.com/office/drawing/2014/main" val="99276610"/>
                    </a:ext>
                  </a:extLst>
                </a:gridCol>
                <a:gridCol w="2325664">
                  <a:extLst>
                    <a:ext uri="{9D8B030D-6E8A-4147-A177-3AD203B41FA5}">
                      <a16:colId xmlns:a16="http://schemas.microsoft.com/office/drawing/2014/main" val="2833058300"/>
                    </a:ext>
                  </a:extLst>
                </a:gridCol>
              </a:tblGrid>
              <a:tr h="82805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 06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Add new product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 added successfully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4367688"/>
                  </a:ext>
                </a:extLst>
              </a:tr>
              <a:tr h="74705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TC07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 prize is negative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error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fail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6251952"/>
                  </a:ext>
                </a:extLst>
              </a:tr>
              <a:tr h="73362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TC8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Update product details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Updated successfully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0349212"/>
                  </a:ext>
                </a:extLst>
              </a:tr>
              <a:tr h="96519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TC9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Delete product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Deleted </a:t>
                      </a:r>
                      <a:r>
                        <a:rPr lang="en-US" dirty="0" err="1"/>
                        <a:t>succesfully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3913306"/>
                  </a:ext>
                </a:extLst>
              </a:tr>
              <a:tr h="101038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TC10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Duplicate product id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error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Fail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3330826"/>
                  </a:ext>
                </a:extLst>
              </a:tr>
              <a:tr h="101038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TC11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 validation </a:t>
                      </a:r>
                    </a:p>
                    <a:p>
                      <a:r>
                        <a:rPr lang="en-US" dirty="0" err="1"/>
                        <a:t>Id,name,category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 added </a:t>
                      </a:r>
                      <a:r>
                        <a:rPr lang="en-US" dirty="0" err="1"/>
                        <a:t>succesfully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4337938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C7B85CE4-8190-98D2-5428-8C551925B171}"/>
              </a:ext>
            </a:extLst>
          </p:cNvPr>
          <p:cNvSpPr/>
          <p:nvPr/>
        </p:nvSpPr>
        <p:spPr>
          <a:xfrm>
            <a:off x="399392" y="139152"/>
            <a:ext cx="11330153" cy="76473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/>
              <a:t>PRODUCT MANAGEMENT TEST CASES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4155813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C6C13-F1B2-8736-7B38-2793C0BFC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DB295C9-7236-8A58-F854-2893E54A39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4934309"/>
              </p:ext>
            </p:extLst>
          </p:nvPr>
        </p:nvGraphicFramePr>
        <p:xfrm>
          <a:off x="491612" y="1219200"/>
          <a:ext cx="10862185" cy="555780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79969">
                  <a:extLst>
                    <a:ext uri="{9D8B030D-6E8A-4147-A177-3AD203B41FA5}">
                      <a16:colId xmlns:a16="http://schemas.microsoft.com/office/drawing/2014/main" val="4208414536"/>
                    </a:ext>
                  </a:extLst>
                </a:gridCol>
                <a:gridCol w="2694072">
                  <a:extLst>
                    <a:ext uri="{9D8B030D-6E8A-4147-A177-3AD203B41FA5}">
                      <a16:colId xmlns:a16="http://schemas.microsoft.com/office/drawing/2014/main" val="305267077"/>
                    </a:ext>
                  </a:extLst>
                </a:gridCol>
                <a:gridCol w="2694072">
                  <a:extLst>
                    <a:ext uri="{9D8B030D-6E8A-4147-A177-3AD203B41FA5}">
                      <a16:colId xmlns:a16="http://schemas.microsoft.com/office/drawing/2014/main" val="1484369809"/>
                    </a:ext>
                  </a:extLst>
                </a:gridCol>
                <a:gridCol w="2694072">
                  <a:extLst>
                    <a:ext uri="{9D8B030D-6E8A-4147-A177-3AD203B41FA5}">
                      <a16:colId xmlns:a16="http://schemas.microsoft.com/office/drawing/2014/main" val="1544085461"/>
                    </a:ext>
                  </a:extLst>
                </a:gridCol>
              </a:tblGrid>
              <a:tr h="11319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TC12</a:t>
                      </a:r>
                    </a:p>
                    <a:p>
                      <a:pPr algn="ctr"/>
                      <a:endParaRPr lang="en-US" dirty="0"/>
                    </a:p>
                    <a:p>
                      <a:pPr algn="ctr"/>
                      <a:endParaRPr lang="en-US" dirty="0"/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Generate invoice with valid customer and product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Generates </a:t>
                      </a:r>
                      <a:r>
                        <a:rPr lang="en-US" dirty="0" err="1"/>
                        <a:t>sucessfully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8920944"/>
                  </a:ext>
                </a:extLst>
              </a:tr>
              <a:tr h="60949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TC13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Generate invoice without customer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error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3584861"/>
                  </a:ext>
                </a:extLst>
              </a:tr>
              <a:tr h="87070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TC14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Generate invoice without product</a:t>
                      </a:r>
                      <a:endParaRPr lang="en-IN" dirty="0"/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error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90745"/>
                  </a:ext>
                </a:extLst>
              </a:tr>
              <a:tr h="60949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TC15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Verify GST/TAX calculation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Correct calculation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3115281"/>
                  </a:ext>
                </a:extLst>
              </a:tr>
              <a:tr h="60949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TC16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Verify total amount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Correct amount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7295536"/>
                  </a:ext>
                </a:extLst>
              </a:tr>
              <a:tr h="65202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TC17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Save invoice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Saved </a:t>
                      </a:r>
                      <a:r>
                        <a:rPr lang="en-US" dirty="0" err="1"/>
                        <a:t>ssuccesfully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0767648"/>
                  </a:ext>
                </a:extLst>
              </a:tr>
              <a:tr h="88242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TC18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Print invoice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Printed </a:t>
                      </a:r>
                      <a:r>
                        <a:rPr lang="en-US" dirty="0" err="1"/>
                        <a:t>succesfully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0158945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7ABD47D5-37D3-F168-B4A5-6B760FECF5A5}"/>
              </a:ext>
            </a:extLst>
          </p:cNvPr>
          <p:cNvSpPr/>
          <p:nvPr/>
        </p:nvSpPr>
        <p:spPr>
          <a:xfrm>
            <a:off x="491613" y="273269"/>
            <a:ext cx="10862186" cy="56755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/>
              <a:t>INVOICE GENERATION TEST CASES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222597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D6AB9-3A2D-AA9B-E196-BBBCE09F9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780714-BDA6-9AD8-802B-192B92D162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407213"/>
              </p:ext>
            </p:extLst>
          </p:nvPr>
        </p:nvGraphicFramePr>
        <p:xfrm>
          <a:off x="838200" y="1156138"/>
          <a:ext cx="10515600" cy="53616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04595">
                  <a:extLst>
                    <a:ext uri="{9D8B030D-6E8A-4147-A177-3AD203B41FA5}">
                      <a16:colId xmlns:a16="http://schemas.microsoft.com/office/drawing/2014/main" val="2892021412"/>
                    </a:ext>
                  </a:extLst>
                </a:gridCol>
                <a:gridCol w="2653205">
                  <a:extLst>
                    <a:ext uri="{9D8B030D-6E8A-4147-A177-3AD203B41FA5}">
                      <a16:colId xmlns:a16="http://schemas.microsoft.com/office/drawing/2014/main" val="343508932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26190396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663991180"/>
                    </a:ext>
                  </a:extLst>
                </a:gridCol>
              </a:tblGrid>
              <a:tr h="88945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TC19</a:t>
                      </a:r>
                    </a:p>
                    <a:p>
                      <a:pPr algn="ctr"/>
                      <a:endParaRPr lang="en-US" dirty="0"/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Search customer  by id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Customer displayed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4884679"/>
                  </a:ext>
                </a:extLst>
              </a:tr>
              <a:tr h="88945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TC20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search customer by name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Customer displayed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820435"/>
                  </a:ext>
                </a:extLst>
              </a:tr>
              <a:tr h="88945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TC21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Search product by id</a:t>
                      </a:r>
                      <a:endParaRPr lang="en-IN" dirty="0"/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 displayed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9881725"/>
                  </a:ext>
                </a:extLst>
              </a:tr>
              <a:tr h="88945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TC22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search product by name</a:t>
                      </a:r>
                      <a:endParaRPr lang="en-IN" dirty="0"/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 displayed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929597"/>
                  </a:ext>
                </a:extLst>
              </a:tr>
              <a:tr h="88945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TC23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Search invalid keyword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result found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593761"/>
                  </a:ext>
                </a:extLst>
              </a:tr>
              <a:tr h="889456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TC24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Search with empty field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Search field cannot be empty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565826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A314133E-C0B3-AD1E-D5B3-071EA2913CA5}"/>
              </a:ext>
            </a:extLst>
          </p:cNvPr>
          <p:cNvSpPr/>
          <p:nvPr/>
        </p:nvSpPr>
        <p:spPr>
          <a:xfrm>
            <a:off x="838200" y="365125"/>
            <a:ext cx="10515600" cy="55978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/>
              <a:t>SEARCH MODULE TEST CASES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656375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146</TotalTime>
  <Words>297</Words>
  <Application>Microsoft Office PowerPoint</Application>
  <PresentationFormat>Widescreen</PresentationFormat>
  <Paragraphs>127</Paragraphs>
  <Slides>6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Worksheet</vt:lpstr>
      <vt:lpstr>PROJECT NAME :- AUTOMATIC INVOICE               GENERATOR</vt:lpstr>
      <vt:lpstr>TESTING MODULE</vt:lpstr>
      <vt:lpstr>TEST CASES   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ladhesonal4@outlook.com</dc:creator>
  <cp:lastModifiedBy>ladhesonal4@outlook.com</cp:lastModifiedBy>
  <cp:revision>3</cp:revision>
  <dcterms:created xsi:type="dcterms:W3CDTF">2026-07-02T04:25:44Z</dcterms:created>
  <dcterms:modified xsi:type="dcterms:W3CDTF">2026-07-05T10:31:16Z</dcterms:modified>
</cp:coreProperties>
</file>